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58" r:id="rId10"/>
    <p:sldId id="265" r:id="rId11"/>
    <p:sldId id="267" r:id="rId12"/>
    <p:sldId id="281" r:id="rId13"/>
    <p:sldId id="279" r:id="rId14"/>
    <p:sldId id="282" r:id="rId15"/>
    <p:sldId id="283" r:id="rId16"/>
    <p:sldId id="285" r:id="rId17"/>
    <p:sldId id="268" r:id="rId18"/>
    <p:sldId id="269" r:id="rId19"/>
    <p:sldId id="270" r:id="rId20"/>
    <p:sldId id="271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5" r:id="rId30"/>
    <p:sldId id="296" r:id="rId31"/>
    <p:sldId id="297" r:id="rId32"/>
    <p:sldId id="298" r:id="rId33"/>
    <p:sldId id="299" r:id="rId34"/>
    <p:sldId id="301" r:id="rId35"/>
    <p:sldId id="302" r:id="rId36"/>
    <p:sldId id="276" r:id="rId37"/>
    <p:sldId id="304" r:id="rId38"/>
    <p:sldId id="305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8"/>
  </p:normalViewPr>
  <p:slideViewPr>
    <p:cSldViewPr snapToGrid="0">
      <p:cViewPr varScale="1">
        <p:scale>
          <a:sx n="119" d="100"/>
          <a:sy n="119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image" Target="../media/image30.svg"/><Relationship Id="rId4" Type="http://schemas.openxmlformats.org/officeDocument/2006/relationships/image" Target="../media/image3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image" Target="../media/image30.svg"/><Relationship Id="rId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1FBF86-915A-4ABD-AB2E-8788D62DC02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F1BA999-87D2-43C4-8B97-D6DEC9A6B2A4}">
      <dgm:prSet/>
      <dgm:spPr/>
      <dgm:t>
        <a:bodyPr/>
        <a:lstStyle/>
        <a:p>
          <a:r>
            <a:rPr lang="es-ES_tradnl"/>
            <a:t>Usa una función H, donde H es una PRF o superior.</a:t>
          </a:r>
          <a:endParaRPr lang="en-US"/>
        </a:p>
      </dgm:t>
    </dgm:pt>
    <dgm:pt modelId="{6A1EC012-2334-4629-BBCF-8231D86EE34E}" type="parTrans" cxnId="{6694FFE5-C3FE-4F63-ABFF-66F8E72E4CF1}">
      <dgm:prSet/>
      <dgm:spPr/>
      <dgm:t>
        <a:bodyPr/>
        <a:lstStyle/>
        <a:p>
          <a:endParaRPr lang="en-US"/>
        </a:p>
      </dgm:t>
    </dgm:pt>
    <dgm:pt modelId="{27E04BF4-1B8F-4AEC-A28B-AB340145A353}" type="sibTrans" cxnId="{6694FFE5-C3FE-4F63-ABFF-66F8E72E4CF1}">
      <dgm:prSet/>
      <dgm:spPr/>
      <dgm:t>
        <a:bodyPr/>
        <a:lstStyle/>
        <a:p>
          <a:endParaRPr lang="en-US"/>
        </a:p>
      </dgm:t>
    </dgm:pt>
    <dgm:pt modelId="{D95211BE-A5E8-446F-ADB2-2732C9B98951}">
      <dgm:prSet/>
      <dgm:spPr/>
      <dgm:t>
        <a:bodyPr/>
        <a:lstStyle/>
        <a:p>
          <a:r>
            <a:rPr lang="es-ES_tradnl"/>
            <a:t>Usa una función I donde es una función AXU o superior.</a:t>
          </a:r>
          <a:endParaRPr lang="en-US"/>
        </a:p>
      </dgm:t>
    </dgm:pt>
    <dgm:pt modelId="{792427C5-680A-4984-9CAF-AE506CAC8FAD}" type="parTrans" cxnId="{E8DB243D-7A1F-4F54-9B55-8B3207F1C5AE}">
      <dgm:prSet/>
      <dgm:spPr/>
      <dgm:t>
        <a:bodyPr/>
        <a:lstStyle/>
        <a:p>
          <a:endParaRPr lang="en-US"/>
        </a:p>
      </dgm:t>
    </dgm:pt>
    <dgm:pt modelId="{E5D8FBDA-105F-460D-9167-DBEA63C54BD3}" type="sibTrans" cxnId="{E8DB243D-7A1F-4F54-9B55-8B3207F1C5AE}">
      <dgm:prSet/>
      <dgm:spPr/>
      <dgm:t>
        <a:bodyPr/>
        <a:lstStyle/>
        <a:p>
          <a:endParaRPr lang="en-US"/>
        </a:p>
      </dgm:t>
    </dgm:pt>
    <dgm:pt modelId="{A38A7F4B-D734-41A7-9AF1-526F63E66D4A}">
      <dgm:prSet/>
      <dgm:spPr/>
      <dgm:t>
        <a:bodyPr/>
        <a:lstStyle/>
        <a:p>
          <a:r>
            <a:rPr lang="es-ES_tradnl"/>
            <a:t>Requiere dividir el mensaje en partes iguales.</a:t>
          </a:r>
          <a:endParaRPr lang="en-US"/>
        </a:p>
      </dgm:t>
    </dgm:pt>
    <dgm:pt modelId="{1AD77FC8-539F-47F3-B2D5-31B594FBE4CD}" type="parTrans" cxnId="{83550626-A38D-49BC-975A-1CE6AC7C217B}">
      <dgm:prSet/>
      <dgm:spPr/>
      <dgm:t>
        <a:bodyPr/>
        <a:lstStyle/>
        <a:p>
          <a:endParaRPr lang="en-US"/>
        </a:p>
      </dgm:t>
    </dgm:pt>
    <dgm:pt modelId="{B961C649-58C0-4595-83AD-6571D157F050}" type="sibTrans" cxnId="{83550626-A38D-49BC-975A-1CE6AC7C217B}">
      <dgm:prSet/>
      <dgm:spPr/>
      <dgm:t>
        <a:bodyPr/>
        <a:lstStyle/>
        <a:p>
          <a:endParaRPr lang="en-US"/>
        </a:p>
      </dgm:t>
    </dgm:pt>
    <dgm:pt modelId="{384B4CD2-0E49-419D-B90B-2C7690384A4D}">
      <dgm:prSet/>
      <dgm:spPr/>
      <dgm:t>
        <a:bodyPr/>
        <a:lstStyle/>
        <a:p>
          <a:r>
            <a:rPr lang="es-ES_tradnl"/>
            <a:t>Usa un contador.</a:t>
          </a:r>
          <a:endParaRPr lang="en-US"/>
        </a:p>
      </dgm:t>
    </dgm:pt>
    <dgm:pt modelId="{8E5A5104-F0E2-45CE-8428-7B2159AC32E0}" type="parTrans" cxnId="{768EE545-FF08-4955-8E28-AC6B6A78004F}">
      <dgm:prSet/>
      <dgm:spPr/>
      <dgm:t>
        <a:bodyPr/>
        <a:lstStyle/>
        <a:p>
          <a:endParaRPr lang="en-US"/>
        </a:p>
      </dgm:t>
    </dgm:pt>
    <dgm:pt modelId="{7AE36E22-59EF-4653-AF17-C8977B131E6E}" type="sibTrans" cxnId="{768EE545-FF08-4955-8E28-AC6B6A78004F}">
      <dgm:prSet/>
      <dgm:spPr/>
      <dgm:t>
        <a:bodyPr/>
        <a:lstStyle/>
        <a:p>
          <a:endParaRPr lang="en-US"/>
        </a:p>
      </dgm:t>
    </dgm:pt>
    <dgm:pt modelId="{04A1FA27-905E-43E4-9296-B2EBFBE06FD0}">
      <dgm:prSet/>
      <dgm:spPr/>
      <dgm:t>
        <a:bodyPr/>
        <a:lstStyle/>
        <a:p>
          <a:r>
            <a:rPr lang="es-ES_tradnl"/>
            <a:t>Sigue la construcción Hash-then-PRP</a:t>
          </a:r>
          <a:endParaRPr lang="en-US"/>
        </a:p>
      </dgm:t>
    </dgm:pt>
    <dgm:pt modelId="{6AEA0B3C-5858-4916-8418-CEF41CA3D8F3}" type="parTrans" cxnId="{6AC77706-5C74-4320-B98F-41C1E463E6D9}">
      <dgm:prSet/>
      <dgm:spPr/>
      <dgm:t>
        <a:bodyPr/>
        <a:lstStyle/>
        <a:p>
          <a:endParaRPr lang="en-US"/>
        </a:p>
      </dgm:t>
    </dgm:pt>
    <dgm:pt modelId="{2C9FBFD2-5A51-4757-9018-D428B638EC88}" type="sibTrans" cxnId="{6AC77706-5C74-4320-B98F-41C1E463E6D9}">
      <dgm:prSet/>
      <dgm:spPr/>
      <dgm:t>
        <a:bodyPr/>
        <a:lstStyle/>
        <a:p>
          <a:endParaRPr lang="en-US"/>
        </a:p>
      </dgm:t>
    </dgm:pt>
    <dgm:pt modelId="{1F44A66D-4396-1347-8260-77C26C7BD2C5}" type="pres">
      <dgm:prSet presAssocID="{921FBF86-915A-4ABD-AB2E-8788D62DC029}" presName="linear" presStyleCnt="0">
        <dgm:presLayoutVars>
          <dgm:animLvl val="lvl"/>
          <dgm:resizeHandles val="exact"/>
        </dgm:presLayoutVars>
      </dgm:prSet>
      <dgm:spPr/>
    </dgm:pt>
    <dgm:pt modelId="{4B9E2DC6-102D-F842-821C-310B363367CF}" type="pres">
      <dgm:prSet presAssocID="{BF1BA999-87D2-43C4-8B97-D6DEC9A6B2A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85E089D-7FFE-414F-B7C2-C1E13F95994E}" type="pres">
      <dgm:prSet presAssocID="{27E04BF4-1B8F-4AEC-A28B-AB340145A353}" presName="spacer" presStyleCnt="0"/>
      <dgm:spPr/>
    </dgm:pt>
    <dgm:pt modelId="{B0F20E71-11AA-DA49-935E-97D3B0A5B12F}" type="pres">
      <dgm:prSet presAssocID="{D95211BE-A5E8-446F-ADB2-2732C9B9895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07B203B-C35B-3246-B39F-906A2E8F36BD}" type="pres">
      <dgm:prSet presAssocID="{E5D8FBDA-105F-460D-9167-DBEA63C54BD3}" presName="spacer" presStyleCnt="0"/>
      <dgm:spPr/>
    </dgm:pt>
    <dgm:pt modelId="{93146CDA-9C81-1742-BB57-2A85C7AE6B07}" type="pres">
      <dgm:prSet presAssocID="{A38A7F4B-D734-41A7-9AF1-526F63E66D4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DFBBED4-FC90-CE4D-BF30-5796DE3FEE23}" type="pres">
      <dgm:prSet presAssocID="{B961C649-58C0-4595-83AD-6571D157F050}" presName="spacer" presStyleCnt="0"/>
      <dgm:spPr/>
    </dgm:pt>
    <dgm:pt modelId="{1516F10D-DCBE-7547-86FF-549A2F82D9B0}" type="pres">
      <dgm:prSet presAssocID="{384B4CD2-0E49-419D-B90B-2C7690384A4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8D52CA2-6396-0347-B38D-0687FD4CA7FB}" type="pres">
      <dgm:prSet presAssocID="{7AE36E22-59EF-4653-AF17-C8977B131E6E}" presName="spacer" presStyleCnt="0"/>
      <dgm:spPr/>
    </dgm:pt>
    <dgm:pt modelId="{77C826E3-15F6-E340-B245-F13E08AD2ACF}" type="pres">
      <dgm:prSet presAssocID="{04A1FA27-905E-43E4-9296-B2EBFBE06FD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AC77706-5C74-4320-B98F-41C1E463E6D9}" srcId="{921FBF86-915A-4ABD-AB2E-8788D62DC029}" destId="{04A1FA27-905E-43E4-9296-B2EBFBE06FD0}" srcOrd="4" destOrd="0" parTransId="{6AEA0B3C-5858-4916-8418-CEF41CA3D8F3}" sibTransId="{2C9FBFD2-5A51-4757-9018-D428B638EC88}"/>
    <dgm:cxn modelId="{83550626-A38D-49BC-975A-1CE6AC7C217B}" srcId="{921FBF86-915A-4ABD-AB2E-8788D62DC029}" destId="{A38A7F4B-D734-41A7-9AF1-526F63E66D4A}" srcOrd="2" destOrd="0" parTransId="{1AD77FC8-539F-47F3-B2D5-31B594FBE4CD}" sibTransId="{B961C649-58C0-4595-83AD-6571D157F050}"/>
    <dgm:cxn modelId="{E8DB243D-7A1F-4F54-9B55-8B3207F1C5AE}" srcId="{921FBF86-915A-4ABD-AB2E-8788D62DC029}" destId="{D95211BE-A5E8-446F-ADB2-2732C9B98951}" srcOrd="1" destOrd="0" parTransId="{792427C5-680A-4984-9CAF-AE506CAC8FAD}" sibTransId="{E5D8FBDA-105F-460D-9167-DBEA63C54BD3}"/>
    <dgm:cxn modelId="{768EE545-FF08-4955-8E28-AC6B6A78004F}" srcId="{921FBF86-915A-4ABD-AB2E-8788D62DC029}" destId="{384B4CD2-0E49-419D-B90B-2C7690384A4D}" srcOrd="3" destOrd="0" parTransId="{8E5A5104-F0E2-45CE-8428-7B2159AC32E0}" sibTransId="{7AE36E22-59EF-4653-AF17-C8977B131E6E}"/>
    <dgm:cxn modelId="{AD2E2962-46FA-5648-9EAE-AA34F15ECBA1}" type="presOf" srcId="{BF1BA999-87D2-43C4-8B97-D6DEC9A6B2A4}" destId="{4B9E2DC6-102D-F842-821C-310B363367CF}" srcOrd="0" destOrd="0" presId="urn:microsoft.com/office/officeart/2005/8/layout/vList2"/>
    <dgm:cxn modelId="{5256267F-CBFF-9645-9079-9198D9B0A4DD}" type="presOf" srcId="{04A1FA27-905E-43E4-9296-B2EBFBE06FD0}" destId="{77C826E3-15F6-E340-B245-F13E08AD2ACF}" srcOrd="0" destOrd="0" presId="urn:microsoft.com/office/officeart/2005/8/layout/vList2"/>
    <dgm:cxn modelId="{7186BD85-22B9-5449-84F4-B539626EC50C}" type="presOf" srcId="{921FBF86-915A-4ABD-AB2E-8788D62DC029}" destId="{1F44A66D-4396-1347-8260-77C26C7BD2C5}" srcOrd="0" destOrd="0" presId="urn:microsoft.com/office/officeart/2005/8/layout/vList2"/>
    <dgm:cxn modelId="{F9BD5D9D-274E-8943-A2BF-D3BC45B15A54}" type="presOf" srcId="{384B4CD2-0E49-419D-B90B-2C7690384A4D}" destId="{1516F10D-DCBE-7547-86FF-549A2F82D9B0}" srcOrd="0" destOrd="0" presId="urn:microsoft.com/office/officeart/2005/8/layout/vList2"/>
    <dgm:cxn modelId="{D3D847CD-B822-744B-B582-C1AA91A88CA1}" type="presOf" srcId="{D95211BE-A5E8-446F-ADB2-2732C9B98951}" destId="{B0F20E71-11AA-DA49-935E-97D3B0A5B12F}" srcOrd="0" destOrd="0" presId="urn:microsoft.com/office/officeart/2005/8/layout/vList2"/>
    <dgm:cxn modelId="{07C987E3-1FEB-F740-B7AD-1E6BC91428A6}" type="presOf" srcId="{A38A7F4B-D734-41A7-9AF1-526F63E66D4A}" destId="{93146CDA-9C81-1742-BB57-2A85C7AE6B07}" srcOrd="0" destOrd="0" presId="urn:microsoft.com/office/officeart/2005/8/layout/vList2"/>
    <dgm:cxn modelId="{6694FFE5-C3FE-4F63-ABFF-66F8E72E4CF1}" srcId="{921FBF86-915A-4ABD-AB2E-8788D62DC029}" destId="{BF1BA999-87D2-43C4-8B97-D6DEC9A6B2A4}" srcOrd="0" destOrd="0" parTransId="{6A1EC012-2334-4629-BBCF-8231D86EE34E}" sibTransId="{27E04BF4-1B8F-4AEC-A28B-AB340145A353}"/>
    <dgm:cxn modelId="{B6B85456-AD04-5B4E-A877-68240E5E2596}" type="presParOf" srcId="{1F44A66D-4396-1347-8260-77C26C7BD2C5}" destId="{4B9E2DC6-102D-F842-821C-310B363367CF}" srcOrd="0" destOrd="0" presId="urn:microsoft.com/office/officeart/2005/8/layout/vList2"/>
    <dgm:cxn modelId="{C6C0AC17-2CB6-FF47-8778-A0B83CA09399}" type="presParOf" srcId="{1F44A66D-4396-1347-8260-77C26C7BD2C5}" destId="{B85E089D-7FFE-414F-B7C2-C1E13F95994E}" srcOrd="1" destOrd="0" presId="urn:microsoft.com/office/officeart/2005/8/layout/vList2"/>
    <dgm:cxn modelId="{D801085E-9431-2343-9858-48A4DE888304}" type="presParOf" srcId="{1F44A66D-4396-1347-8260-77C26C7BD2C5}" destId="{B0F20E71-11AA-DA49-935E-97D3B0A5B12F}" srcOrd="2" destOrd="0" presId="urn:microsoft.com/office/officeart/2005/8/layout/vList2"/>
    <dgm:cxn modelId="{57F38C9A-004D-2D4E-9C21-ACE242CAB015}" type="presParOf" srcId="{1F44A66D-4396-1347-8260-77C26C7BD2C5}" destId="{D07B203B-C35B-3246-B39F-906A2E8F36BD}" srcOrd="3" destOrd="0" presId="urn:microsoft.com/office/officeart/2005/8/layout/vList2"/>
    <dgm:cxn modelId="{3F7A55D0-0062-114C-8878-5505B4AC3F77}" type="presParOf" srcId="{1F44A66D-4396-1347-8260-77C26C7BD2C5}" destId="{93146CDA-9C81-1742-BB57-2A85C7AE6B07}" srcOrd="4" destOrd="0" presId="urn:microsoft.com/office/officeart/2005/8/layout/vList2"/>
    <dgm:cxn modelId="{D53C42CA-3314-A24E-A973-3B3A0F68255F}" type="presParOf" srcId="{1F44A66D-4396-1347-8260-77C26C7BD2C5}" destId="{DDFBBED4-FC90-CE4D-BF30-5796DE3FEE23}" srcOrd="5" destOrd="0" presId="urn:microsoft.com/office/officeart/2005/8/layout/vList2"/>
    <dgm:cxn modelId="{0CC31A2F-5A08-6F4C-8339-DA1D5D6C792D}" type="presParOf" srcId="{1F44A66D-4396-1347-8260-77C26C7BD2C5}" destId="{1516F10D-DCBE-7547-86FF-549A2F82D9B0}" srcOrd="6" destOrd="0" presId="urn:microsoft.com/office/officeart/2005/8/layout/vList2"/>
    <dgm:cxn modelId="{AEE26A80-9796-5B42-9448-886FD8827777}" type="presParOf" srcId="{1F44A66D-4396-1347-8260-77C26C7BD2C5}" destId="{D8D52CA2-6396-0347-B38D-0687FD4CA7FB}" srcOrd="7" destOrd="0" presId="urn:microsoft.com/office/officeart/2005/8/layout/vList2"/>
    <dgm:cxn modelId="{79ECFA9F-DA18-184A-91CD-874FCFD6A07E}" type="presParOf" srcId="{1F44A66D-4396-1347-8260-77C26C7BD2C5}" destId="{77C826E3-15F6-E340-B245-F13E08AD2AC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F28634-D439-4B4E-A42A-88178BAD815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BC592FE-B52A-4E70-9B74-3C02981C9266}">
      <dgm:prSet/>
      <dgm:spPr/>
      <dgm:t>
        <a:bodyPr/>
        <a:lstStyle/>
        <a:p>
          <a:pPr>
            <a:lnSpc>
              <a:spcPct val="100000"/>
            </a:lnSpc>
          </a:pPr>
          <a:r>
            <a:rPr lang="es-ES_tradnl"/>
            <a:t>Local Imperfect Xor Universa  (LIXU): Usando 1 o dos rondas de AES con llaves de 1 o 0 se puede obtener una función.</a:t>
          </a:r>
          <a:endParaRPr lang="en-US"/>
        </a:p>
      </dgm:t>
    </dgm:pt>
    <dgm:pt modelId="{D767D4C9-7530-4182-AB7D-09D14F168C29}" type="parTrans" cxnId="{420D0920-43C7-45F6-9C80-8D83FC120FB6}">
      <dgm:prSet/>
      <dgm:spPr/>
      <dgm:t>
        <a:bodyPr/>
        <a:lstStyle/>
        <a:p>
          <a:endParaRPr lang="en-US"/>
        </a:p>
      </dgm:t>
    </dgm:pt>
    <dgm:pt modelId="{FAFF1165-5F1E-43CE-AA04-B80D4AFBE30A}" type="sibTrans" cxnId="{420D0920-43C7-45F6-9C80-8D83FC120FB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F0182AE-EE9D-40CE-858F-302E5AA790FF}">
      <dgm:prSet/>
      <dgm:spPr/>
      <dgm:t>
        <a:bodyPr/>
        <a:lstStyle/>
        <a:p>
          <a:pPr>
            <a:lnSpc>
              <a:spcPct val="100000"/>
            </a:lnSpc>
          </a:pPr>
          <a:r>
            <a:rPr lang="es-ES_tradnl"/>
            <a:t>Almost Xor Universal: Al usar 4 rondas de AES se puede obtener una función AXU, la probabilidad de colisión depende si se usan o no llaves. </a:t>
          </a:r>
          <a:endParaRPr lang="en-US"/>
        </a:p>
      </dgm:t>
    </dgm:pt>
    <dgm:pt modelId="{040A5CC6-EC09-4A33-887F-5A819959D724}" type="parTrans" cxnId="{25F03D5A-28EA-49E4-9141-1657C96BAD94}">
      <dgm:prSet/>
      <dgm:spPr/>
      <dgm:t>
        <a:bodyPr/>
        <a:lstStyle/>
        <a:p>
          <a:endParaRPr lang="en-US"/>
        </a:p>
      </dgm:t>
    </dgm:pt>
    <dgm:pt modelId="{87711816-3E7F-4E7E-9EEA-4185617BC38C}" type="sibTrans" cxnId="{25F03D5A-28EA-49E4-9141-1657C96BAD9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3A7C763-B4F0-4EB2-A0D4-487EC48C160F}">
      <dgm:prSet/>
      <dgm:spPr/>
      <dgm:t>
        <a:bodyPr/>
        <a:lstStyle/>
        <a:p>
          <a:pPr>
            <a:lnSpc>
              <a:spcPct val="100000"/>
            </a:lnSpc>
          </a:pPr>
          <a:r>
            <a:rPr lang="es-ES_tradnl"/>
            <a:t>Pseudo Random Funtion (PRF): Al usar 7 o mas rondas de AES se considera una PRF siempre y cuando se usen llaves distintas.</a:t>
          </a:r>
          <a:endParaRPr lang="en-US"/>
        </a:p>
      </dgm:t>
    </dgm:pt>
    <dgm:pt modelId="{D760A7F6-62A5-4906-86EF-5F06B79096FD}" type="parTrans" cxnId="{C8368B80-E1B2-4363-AB93-53A3A1316719}">
      <dgm:prSet/>
      <dgm:spPr/>
      <dgm:t>
        <a:bodyPr/>
        <a:lstStyle/>
        <a:p>
          <a:endParaRPr lang="en-US"/>
        </a:p>
      </dgm:t>
    </dgm:pt>
    <dgm:pt modelId="{A9F91940-071C-4CF1-856F-A06330B6162D}" type="sibTrans" cxnId="{C8368B80-E1B2-4363-AB93-53A3A131671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570E0A1-C902-40E8-8861-31DD40865BB1}">
      <dgm:prSet/>
      <dgm:spPr/>
      <dgm:t>
        <a:bodyPr/>
        <a:lstStyle/>
        <a:p>
          <a:pPr>
            <a:lnSpc>
              <a:spcPct val="100000"/>
            </a:lnSpc>
          </a:pPr>
          <a:r>
            <a:rPr lang="es-ES_tradnl"/>
            <a:t>Pseudo Random Permutation (PRP)</a:t>
          </a:r>
          <a:r>
            <a:rPr lang="es-MX"/>
            <a:t>: Al usar 10 o mas rondas se obtiene una PRP. Es similar a una PRF, pero con la propiedad adicional de ser biyectiva.</a:t>
          </a:r>
          <a:endParaRPr lang="en-US"/>
        </a:p>
      </dgm:t>
    </dgm:pt>
    <dgm:pt modelId="{4DC16818-A911-4707-B70F-95CB88674CA6}" type="parTrans" cxnId="{9976C6DC-BCF8-4223-88C4-8DB5B3FA28A1}">
      <dgm:prSet/>
      <dgm:spPr/>
      <dgm:t>
        <a:bodyPr/>
        <a:lstStyle/>
        <a:p>
          <a:endParaRPr lang="en-US"/>
        </a:p>
      </dgm:t>
    </dgm:pt>
    <dgm:pt modelId="{51F4EBA3-E1A5-431E-AA04-4733B1E4A5B5}" type="sibTrans" cxnId="{9976C6DC-BCF8-4223-88C4-8DB5B3FA28A1}">
      <dgm:prSet/>
      <dgm:spPr/>
      <dgm:t>
        <a:bodyPr/>
        <a:lstStyle/>
        <a:p>
          <a:endParaRPr lang="en-US"/>
        </a:p>
      </dgm:t>
    </dgm:pt>
    <dgm:pt modelId="{AC689329-4468-4E75-8564-729A1E0E0977}" type="pres">
      <dgm:prSet presAssocID="{11F28634-D439-4B4E-A42A-88178BAD8153}" presName="root" presStyleCnt="0">
        <dgm:presLayoutVars>
          <dgm:dir/>
          <dgm:resizeHandles val="exact"/>
        </dgm:presLayoutVars>
      </dgm:prSet>
      <dgm:spPr/>
    </dgm:pt>
    <dgm:pt modelId="{F94F0ED2-1729-4A7C-B248-63BBF93C5FE7}" type="pres">
      <dgm:prSet presAssocID="{EBC592FE-B52A-4E70-9B74-3C02981C9266}" presName="compNode" presStyleCnt="0"/>
      <dgm:spPr/>
    </dgm:pt>
    <dgm:pt modelId="{4E38C8CB-6C1E-4DBD-AF8F-0254272DC963}" type="pres">
      <dgm:prSet presAssocID="{EBC592FE-B52A-4E70-9B74-3C02981C9266}" presName="bgRect" presStyleLbl="bgShp" presStyleIdx="0" presStyleCnt="4"/>
      <dgm:spPr/>
    </dgm:pt>
    <dgm:pt modelId="{0AB17020-6E71-451A-BE67-AD74CE250472}" type="pres">
      <dgm:prSet presAssocID="{EBC592FE-B52A-4E70-9B74-3C02981C926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22A7A661-CE71-4721-905D-5EEB287EACA6}" type="pres">
      <dgm:prSet presAssocID="{EBC592FE-B52A-4E70-9B74-3C02981C9266}" presName="spaceRect" presStyleCnt="0"/>
      <dgm:spPr/>
    </dgm:pt>
    <dgm:pt modelId="{8AA2A926-AFA0-407C-B113-6AB08D14D336}" type="pres">
      <dgm:prSet presAssocID="{EBC592FE-B52A-4E70-9B74-3C02981C9266}" presName="parTx" presStyleLbl="revTx" presStyleIdx="0" presStyleCnt="4">
        <dgm:presLayoutVars>
          <dgm:chMax val="0"/>
          <dgm:chPref val="0"/>
        </dgm:presLayoutVars>
      </dgm:prSet>
      <dgm:spPr/>
    </dgm:pt>
    <dgm:pt modelId="{F9D187B0-734E-4F6A-94B8-1FBE6A89733F}" type="pres">
      <dgm:prSet presAssocID="{FAFF1165-5F1E-43CE-AA04-B80D4AFBE30A}" presName="sibTrans" presStyleCnt="0"/>
      <dgm:spPr/>
    </dgm:pt>
    <dgm:pt modelId="{45C57AAB-42EF-4420-90C0-E6B52F169AF3}" type="pres">
      <dgm:prSet presAssocID="{2F0182AE-EE9D-40CE-858F-302E5AA790FF}" presName="compNode" presStyleCnt="0"/>
      <dgm:spPr/>
    </dgm:pt>
    <dgm:pt modelId="{E13C67EB-83B9-408C-A078-C539B25A2993}" type="pres">
      <dgm:prSet presAssocID="{2F0182AE-EE9D-40CE-858F-302E5AA790FF}" presName="bgRect" presStyleLbl="bgShp" presStyleIdx="1" presStyleCnt="4"/>
      <dgm:spPr/>
    </dgm:pt>
    <dgm:pt modelId="{60FF6C98-8042-4B7C-AC78-B362AE7075B1}" type="pres">
      <dgm:prSet presAssocID="{2F0182AE-EE9D-40CE-858F-302E5AA790F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gregar"/>
        </a:ext>
      </dgm:extLst>
    </dgm:pt>
    <dgm:pt modelId="{8F696E41-22B9-492D-92E1-370071792ADF}" type="pres">
      <dgm:prSet presAssocID="{2F0182AE-EE9D-40CE-858F-302E5AA790FF}" presName="spaceRect" presStyleCnt="0"/>
      <dgm:spPr/>
    </dgm:pt>
    <dgm:pt modelId="{8661C3B1-3AD9-42F4-82F8-67E529F29A64}" type="pres">
      <dgm:prSet presAssocID="{2F0182AE-EE9D-40CE-858F-302E5AA790FF}" presName="parTx" presStyleLbl="revTx" presStyleIdx="1" presStyleCnt="4">
        <dgm:presLayoutVars>
          <dgm:chMax val="0"/>
          <dgm:chPref val="0"/>
        </dgm:presLayoutVars>
      </dgm:prSet>
      <dgm:spPr/>
    </dgm:pt>
    <dgm:pt modelId="{C29B6E73-D92B-4EDF-B700-FB4804708678}" type="pres">
      <dgm:prSet presAssocID="{87711816-3E7F-4E7E-9EEA-4185617BC38C}" presName="sibTrans" presStyleCnt="0"/>
      <dgm:spPr/>
    </dgm:pt>
    <dgm:pt modelId="{1B89AA5F-700E-4474-9F8D-65D2E1D9093C}" type="pres">
      <dgm:prSet presAssocID="{13A7C763-B4F0-4EB2-A0D4-487EC48C160F}" presName="compNode" presStyleCnt="0"/>
      <dgm:spPr/>
    </dgm:pt>
    <dgm:pt modelId="{895F0358-65DC-49B4-86DF-97CD198EE0BF}" type="pres">
      <dgm:prSet presAssocID="{13A7C763-B4F0-4EB2-A0D4-487EC48C160F}" presName="bgRect" presStyleLbl="bgShp" presStyleIdx="2" presStyleCnt="4"/>
      <dgm:spPr/>
    </dgm:pt>
    <dgm:pt modelId="{1FD685F6-3A03-422B-BDC3-4A868762CBAB}" type="pres">
      <dgm:prSet presAssocID="{13A7C763-B4F0-4EB2-A0D4-487EC48C160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E9865E3A-E0EC-4514-B899-B1975042BE60}" type="pres">
      <dgm:prSet presAssocID="{13A7C763-B4F0-4EB2-A0D4-487EC48C160F}" presName="spaceRect" presStyleCnt="0"/>
      <dgm:spPr/>
    </dgm:pt>
    <dgm:pt modelId="{8DD86269-6BCB-4C23-B181-9882AB5B9362}" type="pres">
      <dgm:prSet presAssocID="{13A7C763-B4F0-4EB2-A0D4-487EC48C160F}" presName="parTx" presStyleLbl="revTx" presStyleIdx="2" presStyleCnt="4">
        <dgm:presLayoutVars>
          <dgm:chMax val="0"/>
          <dgm:chPref val="0"/>
        </dgm:presLayoutVars>
      </dgm:prSet>
      <dgm:spPr/>
    </dgm:pt>
    <dgm:pt modelId="{DDB476FD-186C-4702-A9B8-3B1A14125B6A}" type="pres">
      <dgm:prSet presAssocID="{A9F91940-071C-4CF1-856F-A06330B6162D}" presName="sibTrans" presStyleCnt="0"/>
      <dgm:spPr/>
    </dgm:pt>
    <dgm:pt modelId="{346797BF-638A-4F93-B516-87F9B111667B}" type="pres">
      <dgm:prSet presAssocID="{2570E0A1-C902-40E8-8861-31DD40865BB1}" presName="compNode" presStyleCnt="0"/>
      <dgm:spPr/>
    </dgm:pt>
    <dgm:pt modelId="{74AD4A9F-8C9C-49F1-894A-F569FBCB3585}" type="pres">
      <dgm:prSet presAssocID="{2570E0A1-C902-40E8-8861-31DD40865BB1}" presName="bgRect" presStyleLbl="bgShp" presStyleIdx="3" presStyleCnt="4"/>
      <dgm:spPr/>
    </dgm:pt>
    <dgm:pt modelId="{6EDC717E-C5BC-4BFA-9F05-23CC8D3A33C1}" type="pres">
      <dgm:prSet presAssocID="{2570E0A1-C902-40E8-8861-31DD40865BB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4C100686-2572-4FC0-9EF8-33AE220FB11B}" type="pres">
      <dgm:prSet presAssocID="{2570E0A1-C902-40E8-8861-31DD40865BB1}" presName="spaceRect" presStyleCnt="0"/>
      <dgm:spPr/>
    </dgm:pt>
    <dgm:pt modelId="{FAC97016-55D5-4E01-BA35-8C379E298C6E}" type="pres">
      <dgm:prSet presAssocID="{2570E0A1-C902-40E8-8861-31DD40865BB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20D0920-43C7-45F6-9C80-8D83FC120FB6}" srcId="{11F28634-D439-4B4E-A42A-88178BAD8153}" destId="{EBC592FE-B52A-4E70-9B74-3C02981C9266}" srcOrd="0" destOrd="0" parTransId="{D767D4C9-7530-4182-AB7D-09D14F168C29}" sibTransId="{FAFF1165-5F1E-43CE-AA04-B80D4AFBE30A}"/>
    <dgm:cxn modelId="{22F8E62D-23B6-7348-A9DB-B10C0726971C}" type="presOf" srcId="{13A7C763-B4F0-4EB2-A0D4-487EC48C160F}" destId="{8DD86269-6BCB-4C23-B181-9882AB5B9362}" srcOrd="0" destOrd="0" presId="urn:microsoft.com/office/officeart/2018/2/layout/IconVerticalSolidList"/>
    <dgm:cxn modelId="{67C53134-D097-2A40-A89A-D357694A52E0}" type="presOf" srcId="{2570E0A1-C902-40E8-8861-31DD40865BB1}" destId="{FAC97016-55D5-4E01-BA35-8C379E298C6E}" srcOrd="0" destOrd="0" presId="urn:microsoft.com/office/officeart/2018/2/layout/IconVerticalSolidList"/>
    <dgm:cxn modelId="{643F2654-EF92-F243-9A89-72C1DE5A31A5}" type="presOf" srcId="{11F28634-D439-4B4E-A42A-88178BAD8153}" destId="{AC689329-4468-4E75-8564-729A1E0E0977}" srcOrd="0" destOrd="0" presId="urn:microsoft.com/office/officeart/2018/2/layout/IconVerticalSolidList"/>
    <dgm:cxn modelId="{25F03D5A-28EA-49E4-9141-1657C96BAD94}" srcId="{11F28634-D439-4B4E-A42A-88178BAD8153}" destId="{2F0182AE-EE9D-40CE-858F-302E5AA790FF}" srcOrd="1" destOrd="0" parTransId="{040A5CC6-EC09-4A33-887F-5A819959D724}" sibTransId="{87711816-3E7F-4E7E-9EEA-4185617BC38C}"/>
    <dgm:cxn modelId="{C8368B80-E1B2-4363-AB93-53A3A1316719}" srcId="{11F28634-D439-4B4E-A42A-88178BAD8153}" destId="{13A7C763-B4F0-4EB2-A0D4-487EC48C160F}" srcOrd="2" destOrd="0" parTransId="{D760A7F6-62A5-4906-86EF-5F06B79096FD}" sibTransId="{A9F91940-071C-4CF1-856F-A06330B6162D}"/>
    <dgm:cxn modelId="{5C07A8A4-031E-2042-889D-534DEB460B39}" type="presOf" srcId="{2F0182AE-EE9D-40CE-858F-302E5AA790FF}" destId="{8661C3B1-3AD9-42F4-82F8-67E529F29A64}" srcOrd="0" destOrd="0" presId="urn:microsoft.com/office/officeart/2018/2/layout/IconVerticalSolidList"/>
    <dgm:cxn modelId="{BA53B1BC-C64E-D24A-A133-8F12042783C5}" type="presOf" srcId="{EBC592FE-B52A-4E70-9B74-3C02981C9266}" destId="{8AA2A926-AFA0-407C-B113-6AB08D14D336}" srcOrd="0" destOrd="0" presId="urn:microsoft.com/office/officeart/2018/2/layout/IconVerticalSolidList"/>
    <dgm:cxn modelId="{9976C6DC-BCF8-4223-88C4-8DB5B3FA28A1}" srcId="{11F28634-D439-4B4E-A42A-88178BAD8153}" destId="{2570E0A1-C902-40E8-8861-31DD40865BB1}" srcOrd="3" destOrd="0" parTransId="{4DC16818-A911-4707-B70F-95CB88674CA6}" sibTransId="{51F4EBA3-E1A5-431E-AA04-4733B1E4A5B5}"/>
    <dgm:cxn modelId="{24A6B71A-E361-E043-83F5-3499D49BB4FF}" type="presParOf" srcId="{AC689329-4468-4E75-8564-729A1E0E0977}" destId="{F94F0ED2-1729-4A7C-B248-63BBF93C5FE7}" srcOrd="0" destOrd="0" presId="urn:microsoft.com/office/officeart/2018/2/layout/IconVerticalSolidList"/>
    <dgm:cxn modelId="{2A4C63A3-567D-414A-BBAF-6969DF592760}" type="presParOf" srcId="{F94F0ED2-1729-4A7C-B248-63BBF93C5FE7}" destId="{4E38C8CB-6C1E-4DBD-AF8F-0254272DC963}" srcOrd="0" destOrd="0" presId="urn:microsoft.com/office/officeart/2018/2/layout/IconVerticalSolidList"/>
    <dgm:cxn modelId="{693184BF-CBF4-294C-980A-FFDD372A3A81}" type="presParOf" srcId="{F94F0ED2-1729-4A7C-B248-63BBF93C5FE7}" destId="{0AB17020-6E71-451A-BE67-AD74CE250472}" srcOrd="1" destOrd="0" presId="urn:microsoft.com/office/officeart/2018/2/layout/IconVerticalSolidList"/>
    <dgm:cxn modelId="{798159FE-1613-FC41-A706-36443F0AEFCD}" type="presParOf" srcId="{F94F0ED2-1729-4A7C-B248-63BBF93C5FE7}" destId="{22A7A661-CE71-4721-905D-5EEB287EACA6}" srcOrd="2" destOrd="0" presId="urn:microsoft.com/office/officeart/2018/2/layout/IconVerticalSolidList"/>
    <dgm:cxn modelId="{FDE6438F-8110-324B-8DEC-79D6FD73709D}" type="presParOf" srcId="{F94F0ED2-1729-4A7C-B248-63BBF93C5FE7}" destId="{8AA2A926-AFA0-407C-B113-6AB08D14D336}" srcOrd="3" destOrd="0" presId="urn:microsoft.com/office/officeart/2018/2/layout/IconVerticalSolidList"/>
    <dgm:cxn modelId="{4A02CE4D-F520-1048-815A-08C8B3577F2C}" type="presParOf" srcId="{AC689329-4468-4E75-8564-729A1E0E0977}" destId="{F9D187B0-734E-4F6A-94B8-1FBE6A89733F}" srcOrd="1" destOrd="0" presId="urn:microsoft.com/office/officeart/2018/2/layout/IconVerticalSolidList"/>
    <dgm:cxn modelId="{06397164-907F-A049-A0D6-FC5519007AD3}" type="presParOf" srcId="{AC689329-4468-4E75-8564-729A1E0E0977}" destId="{45C57AAB-42EF-4420-90C0-E6B52F169AF3}" srcOrd="2" destOrd="0" presId="urn:microsoft.com/office/officeart/2018/2/layout/IconVerticalSolidList"/>
    <dgm:cxn modelId="{28CBB71F-E090-9E4F-80DD-98440737707C}" type="presParOf" srcId="{45C57AAB-42EF-4420-90C0-E6B52F169AF3}" destId="{E13C67EB-83B9-408C-A078-C539B25A2993}" srcOrd="0" destOrd="0" presId="urn:microsoft.com/office/officeart/2018/2/layout/IconVerticalSolidList"/>
    <dgm:cxn modelId="{4CDA9F41-D6DE-314E-A562-16E0F27475F2}" type="presParOf" srcId="{45C57AAB-42EF-4420-90C0-E6B52F169AF3}" destId="{60FF6C98-8042-4B7C-AC78-B362AE7075B1}" srcOrd="1" destOrd="0" presId="urn:microsoft.com/office/officeart/2018/2/layout/IconVerticalSolidList"/>
    <dgm:cxn modelId="{427020C2-2D56-9B48-A8F9-768BB9586E4F}" type="presParOf" srcId="{45C57AAB-42EF-4420-90C0-E6B52F169AF3}" destId="{8F696E41-22B9-492D-92E1-370071792ADF}" srcOrd="2" destOrd="0" presId="urn:microsoft.com/office/officeart/2018/2/layout/IconVerticalSolidList"/>
    <dgm:cxn modelId="{89D9CA8B-619D-2048-965D-63A44A022C0E}" type="presParOf" srcId="{45C57AAB-42EF-4420-90C0-E6B52F169AF3}" destId="{8661C3B1-3AD9-42F4-82F8-67E529F29A64}" srcOrd="3" destOrd="0" presId="urn:microsoft.com/office/officeart/2018/2/layout/IconVerticalSolidList"/>
    <dgm:cxn modelId="{C06B5539-A93D-FD4F-A522-CC98B07C30BE}" type="presParOf" srcId="{AC689329-4468-4E75-8564-729A1E0E0977}" destId="{C29B6E73-D92B-4EDF-B700-FB4804708678}" srcOrd="3" destOrd="0" presId="urn:microsoft.com/office/officeart/2018/2/layout/IconVerticalSolidList"/>
    <dgm:cxn modelId="{49B06619-00AC-FB4D-872B-6E161FC74A68}" type="presParOf" srcId="{AC689329-4468-4E75-8564-729A1E0E0977}" destId="{1B89AA5F-700E-4474-9F8D-65D2E1D9093C}" srcOrd="4" destOrd="0" presId="urn:microsoft.com/office/officeart/2018/2/layout/IconVerticalSolidList"/>
    <dgm:cxn modelId="{0B18EBE0-50BB-BB45-AD97-62A7495E8BFA}" type="presParOf" srcId="{1B89AA5F-700E-4474-9F8D-65D2E1D9093C}" destId="{895F0358-65DC-49B4-86DF-97CD198EE0BF}" srcOrd="0" destOrd="0" presId="urn:microsoft.com/office/officeart/2018/2/layout/IconVerticalSolidList"/>
    <dgm:cxn modelId="{2EAD32B1-38B2-1640-A681-0FFD8294CEF0}" type="presParOf" srcId="{1B89AA5F-700E-4474-9F8D-65D2E1D9093C}" destId="{1FD685F6-3A03-422B-BDC3-4A868762CBAB}" srcOrd="1" destOrd="0" presId="urn:microsoft.com/office/officeart/2018/2/layout/IconVerticalSolidList"/>
    <dgm:cxn modelId="{C2FBAA4C-9210-DF4E-B415-6EC2FD2238D8}" type="presParOf" srcId="{1B89AA5F-700E-4474-9F8D-65D2E1D9093C}" destId="{E9865E3A-E0EC-4514-B899-B1975042BE60}" srcOrd="2" destOrd="0" presId="urn:microsoft.com/office/officeart/2018/2/layout/IconVerticalSolidList"/>
    <dgm:cxn modelId="{47D95A88-3D70-0446-A7C0-E305A4375B55}" type="presParOf" srcId="{1B89AA5F-700E-4474-9F8D-65D2E1D9093C}" destId="{8DD86269-6BCB-4C23-B181-9882AB5B9362}" srcOrd="3" destOrd="0" presId="urn:microsoft.com/office/officeart/2018/2/layout/IconVerticalSolidList"/>
    <dgm:cxn modelId="{39343BE3-84EB-C64A-93E9-AAD777E0D463}" type="presParOf" srcId="{AC689329-4468-4E75-8564-729A1E0E0977}" destId="{DDB476FD-186C-4702-A9B8-3B1A14125B6A}" srcOrd="5" destOrd="0" presId="urn:microsoft.com/office/officeart/2018/2/layout/IconVerticalSolidList"/>
    <dgm:cxn modelId="{94637167-E396-0F4F-8B28-CACA792876C4}" type="presParOf" srcId="{AC689329-4468-4E75-8564-729A1E0E0977}" destId="{346797BF-638A-4F93-B516-87F9B111667B}" srcOrd="6" destOrd="0" presId="urn:microsoft.com/office/officeart/2018/2/layout/IconVerticalSolidList"/>
    <dgm:cxn modelId="{2D1A0421-A5AC-E54C-945D-81287E4DF20A}" type="presParOf" srcId="{346797BF-638A-4F93-B516-87F9B111667B}" destId="{74AD4A9F-8C9C-49F1-894A-F569FBCB3585}" srcOrd="0" destOrd="0" presId="urn:microsoft.com/office/officeart/2018/2/layout/IconVerticalSolidList"/>
    <dgm:cxn modelId="{5C7D6EC0-7963-3542-A910-D1FFB76F50D7}" type="presParOf" srcId="{346797BF-638A-4F93-B516-87F9B111667B}" destId="{6EDC717E-C5BC-4BFA-9F05-23CC8D3A33C1}" srcOrd="1" destOrd="0" presId="urn:microsoft.com/office/officeart/2018/2/layout/IconVerticalSolidList"/>
    <dgm:cxn modelId="{FF9BB77B-4697-A247-8150-E3ECED9F8B9B}" type="presParOf" srcId="{346797BF-638A-4F93-B516-87F9B111667B}" destId="{4C100686-2572-4FC0-9EF8-33AE220FB11B}" srcOrd="2" destOrd="0" presId="urn:microsoft.com/office/officeart/2018/2/layout/IconVerticalSolidList"/>
    <dgm:cxn modelId="{BA2648BD-95F6-6A4D-95A1-BD45579EA72C}" type="presParOf" srcId="{346797BF-638A-4F93-B516-87F9B111667B}" destId="{FAC97016-55D5-4E01-BA35-8C379E298C6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9E2DC6-102D-F842-821C-310B363367CF}">
      <dsp:nvSpPr>
        <dsp:cNvPr id="0" name=""/>
        <dsp:cNvSpPr/>
      </dsp:nvSpPr>
      <dsp:spPr>
        <a:xfrm>
          <a:off x="0" y="967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500" kern="1200"/>
            <a:t>Usa una función H, donde H es una PRF o superior.</a:t>
          </a:r>
          <a:endParaRPr lang="en-US" sz="2500" kern="1200"/>
        </a:p>
      </dsp:txBody>
      <dsp:txXfrm>
        <a:off x="48547" y="145256"/>
        <a:ext cx="6569739" cy="897406"/>
      </dsp:txXfrm>
    </dsp:sp>
    <dsp:sp modelId="{B0F20E71-11AA-DA49-935E-97D3B0A5B12F}">
      <dsp:nvSpPr>
        <dsp:cNvPr id="0" name=""/>
        <dsp:cNvSpPr/>
      </dsp:nvSpPr>
      <dsp:spPr>
        <a:xfrm>
          <a:off x="0" y="11632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1559309"/>
                <a:satOff val="-1003"/>
                <a:lumOff val="686"/>
                <a:alphaOff val="0"/>
                <a:tint val="98000"/>
                <a:lumMod val="114000"/>
              </a:schemeClr>
            </a:gs>
            <a:gs pos="100000">
              <a:schemeClr val="accent5">
                <a:hueOff val="1559309"/>
                <a:satOff val="-1003"/>
                <a:lumOff val="686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500" kern="1200"/>
            <a:t>Usa una función I donde es una función AXU o superior.</a:t>
          </a:r>
          <a:endParaRPr lang="en-US" sz="2500" kern="1200"/>
        </a:p>
      </dsp:txBody>
      <dsp:txXfrm>
        <a:off x="48547" y="1211756"/>
        <a:ext cx="6569739" cy="897406"/>
      </dsp:txXfrm>
    </dsp:sp>
    <dsp:sp modelId="{93146CDA-9C81-1742-BB57-2A85C7AE6B07}">
      <dsp:nvSpPr>
        <dsp:cNvPr id="0" name=""/>
        <dsp:cNvSpPr/>
      </dsp:nvSpPr>
      <dsp:spPr>
        <a:xfrm>
          <a:off x="0" y="2229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3118619"/>
                <a:satOff val="-2006"/>
                <a:lumOff val="1372"/>
                <a:alphaOff val="0"/>
                <a:tint val="98000"/>
                <a:lumMod val="114000"/>
              </a:schemeClr>
            </a:gs>
            <a:gs pos="100000">
              <a:schemeClr val="accent5">
                <a:hueOff val="3118619"/>
                <a:satOff val="-2006"/>
                <a:lumOff val="137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500" kern="1200"/>
            <a:t>Requiere dividir el mensaje en partes iguales.</a:t>
          </a:r>
          <a:endParaRPr lang="en-US" sz="2500" kern="1200"/>
        </a:p>
      </dsp:txBody>
      <dsp:txXfrm>
        <a:off x="48547" y="2278257"/>
        <a:ext cx="6569739" cy="897406"/>
      </dsp:txXfrm>
    </dsp:sp>
    <dsp:sp modelId="{1516F10D-DCBE-7547-86FF-549A2F82D9B0}">
      <dsp:nvSpPr>
        <dsp:cNvPr id="0" name=""/>
        <dsp:cNvSpPr/>
      </dsp:nvSpPr>
      <dsp:spPr>
        <a:xfrm>
          <a:off x="0" y="32962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4677928"/>
                <a:satOff val="-3010"/>
                <a:lumOff val="2058"/>
                <a:alphaOff val="0"/>
                <a:tint val="98000"/>
                <a:lumMod val="114000"/>
              </a:schemeClr>
            </a:gs>
            <a:gs pos="100000">
              <a:schemeClr val="accent5">
                <a:hueOff val="4677928"/>
                <a:satOff val="-3010"/>
                <a:lumOff val="2058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500" kern="1200"/>
            <a:t>Usa un contador.</a:t>
          </a:r>
          <a:endParaRPr lang="en-US" sz="2500" kern="1200"/>
        </a:p>
      </dsp:txBody>
      <dsp:txXfrm>
        <a:off x="48547" y="3344757"/>
        <a:ext cx="6569739" cy="897406"/>
      </dsp:txXfrm>
    </dsp:sp>
    <dsp:sp modelId="{77C826E3-15F6-E340-B245-F13E08AD2ACF}">
      <dsp:nvSpPr>
        <dsp:cNvPr id="0" name=""/>
        <dsp:cNvSpPr/>
      </dsp:nvSpPr>
      <dsp:spPr>
        <a:xfrm>
          <a:off x="0" y="4362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6237238"/>
                <a:satOff val="-4013"/>
                <a:lumOff val="2744"/>
                <a:alphaOff val="0"/>
                <a:tint val="98000"/>
                <a:lumMod val="114000"/>
              </a:schemeClr>
            </a:gs>
            <a:gs pos="100000">
              <a:schemeClr val="accent5">
                <a:hueOff val="6237238"/>
                <a:satOff val="-4013"/>
                <a:lumOff val="2744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500" kern="1200"/>
            <a:t>Sigue la construcción Hash-then-PRP</a:t>
          </a:r>
          <a:endParaRPr lang="en-US" sz="2500" kern="1200"/>
        </a:p>
      </dsp:txBody>
      <dsp:txXfrm>
        <a:off x="48547" y="4411257"/>
        <a:ext cx="6569739" cy="897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38C8CB-6C1E-4DBD-AF8F-0254272DC963}">
      <dsp:nvSpPr>
        <dsp:cNvPr id="0" name=""/>
        <dsp:cNvSpPr/>
      </dsp:nvSpPr>
      <dsp:spPr>
        <a:xfrm>
          <a:off x="0" y="1897"/>
          <a:ext cx="6496050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B17020-6E71-451A-BE67-AD74CE250472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2A926-AFA0-407C-B113-6AB08D14D336}">
      <dsp:nvSpPr>
        <dsp:cNvPr id="0" name=""/>
        <dsp:cNvSpPr/>
      </dsp:nvSpPr>
      <dsp:spPr>
        <a:xfrm>
          <a:off x="1110795" y="1897"/>
          <a:ext cx="538525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kern="1200"/>
            <a:t>Local Imperfect Xor Universa  (LIXU): Usando 1 o dos rondas de AES con llaves de 1 o 0 se puede obtener una función.</a:t>
          </a:r>
          <a:endParaRPr lang="en-US" sz="1600" kern="1200"/>
        </a:p>
      </dsp:txBody>
      <dsp:txXfrm>
        <a:off x="1110795" y="1897"/>
        <a:ext cx="5385254" cy="961727"/>
      </dsp:txXfrm>
    </dsp:sp>
    <dsp:sp modelId="{E13C67EB-83B9-408C-A078-C539B25A2993}">
      <dsp:nvSpPr>
        <dsp:cNvPr id="0" name=""/>
        <dsp:cNvSpPr/>
      </dsp:nvSpPr>
      <dsp:spPr>
        <a:xfrm>
          <a:off x="0" y="1204056"/>
          <a:ext cx="6496050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FF6C98-8042-4B7C-AC78-B362AE7075B1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1C3B1-3AD9-42F4-82F8-67E529F29A64}">
      <dsp:nvSpPr>
        <dsp:cNvPr id="0" name=""/>
        <dsp:cNvSpPr/>
      </dsp:nvSpPr>
      <dsp:spPr>
        <a:xfrm>
          <a:off x="1110795" y="1204056"/>
          <a:ext cx="538525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kern="1200"/>
            <a:t>Almost Xor Universal: Al usar 4 rondas de AES se puede obtener una función AXU, la probabilidad de colisión depende si se usan o no llaves. </a:t>
          </a:r>
          <a:endParaRPr lang="en-US" sz="1600" kern="1200"/>
        </a:p>
      </dsp:txBody>
      <dsp:txXfrm>
        <a:off x="1110795" y="1204056"/>
        <a:ext cx="5385254" cy="961727"/>
      </dsp:txXfrm>
    </dsp:sp>
    <dsp:sp modelId="{895F0358-65DC-49B4-86DF-97CD198EE0BF}">
      <dsp:nvSpPr>
        <dsp:cNvPr id="0" name=""/>
        <dsp:cNvSpPr/>
      </dsp:nvSpPr>
      <dsp:spPr>
        <a:xfrm>
          <a:off x="0" y="2406215"/>
          <a:ext cx="6496050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D685F6-3A03-422B-BDC3-4A868762CBAB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D86269-6BCB-4C23-B181-9882AB5B9362}">
      <dsp:nvSpPr>
        <dsp:cNvPr id="0" name=""/>
        <dsp:cNvSpPr/>
      </dsp:nvSpPr>
      <dsp:spPr>
        <a:xfrm>
          <a:off x="1110795" y="2406215"/>
          <a:ext cx="538525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kern="1200"/>
            <a:t>Pseudo Random Funtion (PRF): Al usar 7 o mas rondas de AES se considera una PRF siempre y cuando se usen llaves distintas.</a:t>
          </a:r>
          <a:endParaRPr lang="en-US" sz="1600" kern="1200"/>
        </a:p>
      </dsp:txBody>
      <dsp:txXfrm>
        <a:off x="1110795" y="2406215"/>
        <a:ext cx="5385254" cy="961727"/>
      </dsp:txXfrm>
    </dsp:sp>
    <dsp:sp modelId="{74AD4A9F-8C9C-49F1-894A-F569FBCB3585}">
      <dsp:nvSpPr>
        <dsp:cNvPr id="0" name=""/>
        <dsp:cNvSpPr/>
      </dsp:nvSpPr>
      <dsp:spPr>
        <a:xfrm>
          <a:off x="0" y="3608375"/>
          <a:ext cx="6496050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DC717E-C5BC-4BFA-9F05-23CC8D3A33C1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C97016-55D5-4E01-BA35-8C379E298C6E}">
      <dsp:nvSpPr>
        <dsp:cNvPr id="0" name=""/>
        <dsp:cNvSpPr/>
      </dsp:nvSpPr>
      <dsp:spPr>
        <a:xfrm>
          <a:off x="1110795" y="3608375"/>
          <a:ext cx="538525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kern="1200"/>
            <a:t>Pseudo Random Permutation (PRP)</a:t>
          </a:r>
          <a:r>
            <a:rPr lang="es-MX" sz="1600" kern="1200"/>
            <a:t>: Al usar 10 o mas rondas se obtiene una PRP. Es similar a una PRF, pero con la propiedad adicional de ser biyectiva.</a:t>
          </a:r>
          <a:endParaRPr lang="en-US" sz="1600" kern="1200"/>
        </a:p>
      </dsp:txBody>
      <dsp:txXfrm>
        <a:off x="1110795" y="3608375"/>
        <a:ext cx="5385254" cy="961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07853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8091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0410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7312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43211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46095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00477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7236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27991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4388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4229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98065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43398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95376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269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15777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71437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56F5283-8005-AA47-A870-553ED9DD221F}" type="datetimeFigureOut">
              <a:rPr lang="es-ES_tradnl" smtClean="0"/>
              <a:t>17/3/26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6084A-3623-A949-8888-ECAF66944D2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073887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Hoja_de_c_lculo_de_Microsoft_Excel.xlsx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2.png"/><Relationship Id="rId7" Type="http://schemas.openxmlformats.org/officeDocument/2006/relationships/diagramData" Target="../diagrams/data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microsoft.com/office/2007/relationships/diagramDrawing" Target="../diagrams/drawing1.xml"/><Relationship Id="rId5" Type="http://schemas.openxmlformats.org/officeDocument/2006/relationships/image" Target="../media/image4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6F7E42-8A3B-A182-9011-4D1E84D22A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noProof="1"/>
              <a:t>Instrucciones vectoriales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8357F9-F13E-C9B8-03CA-B4E7465C80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48886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E92A8BB-07B9-40DB-984F-2CB1A253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DDB745-6C26-4B79-9EF2-08E3E4AB9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80B3FE6C-0A59-4114-88CB-3C3172D6A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2835162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F382F2E-E326-83F5-EFD2-2D516476F2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6"/>
          <a:stretch>
            <a:fillRect/>
          </a:stretch>
        </p:blipFill>
        <p:spPr>
          <a:xfrm>
            <a:off x="635458" y="1000456"/>
            <a:ext cx="9150807" cy="2013178"/>
          </a:xfrm>
          <a:prstGeom prst="rect">
            <a:avLst/>
          </a:prstGeom>
          <a:effectLst/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DA3A238-516A-4076-B3C2-230D91350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136999"/>
            <a:ext cx="12191696" cy="3721001"/>
          </a:xfrm>
          <a:custGeom>
            <a:avLst/>
            <a:gdLst>
              <a:gd name="connsiteX0" fmla="*/ 1 w 12191696"/>
              <a:gd name="connsiteY0" fmla="*/ 0 h 3721001"/>
              <a:gd name="connsiteX1" fmla="*/ 71932 w 12191696"/>
              <a:gd name="connsiteY1" fmla="*/ 12261 h 3721001"/>
              <a:gd name="connsiteX2" fmla="*/ 282849 w 12191696"/>
              <a:gd name="connsiteY2" fmla="*/ 48342 h 3721001"/>
              <a:gd name="connsiteX3" fmla="*/ 436464 w 12191696"/>
              <a:gd name="connsiteY3" fmla="*/ 73565 h 3721001"/>
              <a:gd name="connsiteX4" fmla="*/ 619339 w 12191696"/>
              <a:gd name="connsiteY4" fmla="*/ 100188 h 3721001"/>
              <a:gd name="connsiteX5" fmla="*/ 836351 w 12191696"/>
              <a:gd name="connsiteY5" fmla="*/ 132066 h 3721001"/>
              <a:gd name="connsiteX6" fmla="*/ 1076528 w 12191696"/>
              <a:gd name="connsiteY6" fmla="*/ 165696 h 3721001"/>
              <a:gd name="connsiteX7" fmla="*/ 1347183 w 12191696"/>
              <a:gd name="connsiteY7" fmla="*/ 201077 h 3721001"/>
              <a:gd name="connsiteX8" fmla="*/ 1642223 w 12191696"/>
              <a:gd name="connsiteY8" fmla="*/ 238560 h 3721001"/>
              <a:gd name="connsiteX9" fmla="*/ 1962864 w 12191696"/>
              <a:gd name="connsiteY9" fmla="*/ 276043 h 3721001"/>
              <a:gd name="connsiteX10" fmla="*/ 2304232 w 12191696"/>
              <a:gd name="connsiteY10" fmla="*/ 314226 h 3721001"/>
              <a:gd name="connsiteX11" fmla="*/ 2672421 w 12191696"/>
              <a:gd name="connsiteY11" fmla="*/ 349608 h 3721001"/>
              <a:gd name="connsiteX12" fmla="*/ 3057678 w 12191696"/>
              <a:gd name="connsiteY12" fmla="*/ 383588 h 3721001"/>
              <a:gd name="connsiteX13" fmla="*/ 3464881 w 12191696"/>
              <a:gd name="connsiteY13" fmla="*/ 414415 h 3721001"/>
              <a:gd name="connsiteX14" fmla="*/ 3889152 w 12191696"/>
              <a:gd name="connsiteY14" fmla="*/ 443841 h 3721001"/>
              <a:gd name="connsiteX15" fmla="*/ 4331710 w 12191696"/>
              <a:gd name="connsiteY15" fmla="*/ 471515 h 3721001"/>
              <a:gd name="connsiteX16" fmla="*/ 4558476 w 12191696"/>
              <a:gd name="connsiteY16" fmla="*/ 481324 h 3721001"/>
              <a:gd name="connsiteX17" fmla="*/ 4790118 w 12191696"/>
              <a:gd name="connsiteY17" fmla="*/ 492183 h 3721001"/>
              <a:gd name="connsiteX18" fmla="*/ 5025418 w 12191696"/>
              <a:gd name="connsiteY18" fmla="*/ 502342 h 3721001"/>
              <a:gd name="connsiteX19" fmla="*/ 5261937 w 12191696"/>
              <a:gd name="connsiteY19" fmla="*/ 508998 h 3721001"/>
              <a:gd name="connsiteX20" fmla="*/ 5503333 w 12191696"/>
              <a:gd name="connsiteY20" fmla="*/ 514953 h 3721001"/>
              <a:gd name="connsiteX21" fmla="*/ 5747166 w 12191696"/>
              <a:gd name="connsiteY21" fmla="*/ 521259 h 3721001"/>
              <a:gd name="connsiteX22" fmla="*/ 5995877 w 12191696"/>
              <a:gd name="connsiteY22" fmla="*/ 525462 h 3721001"/>
              <a:gd name="connsiteX23" fmla="*/ 6247026 w 12191696"/>
              <a:gd name="connsiteY23" fmla="*/ 525462 h 3721001"/>
              <a:gd name="connsiteX24" fmla="*/ 6500613 w 12191696"/>
              <a:gd name="connsiteY24" fmla="*/ 527564 h 3721001"/>
              <a:gd name="connsiteX25" fmla="*/ 6756639 w 12191696"/>
              <a:gd name="connsiteY25" fmla="*/ 525462 h 3721001"/>
              <a:gd name="connsiteX26" fmla="*/ 7016322 w 12191696"/>
              <a:gd name="connsiteY26" fmla="*/ 521259 h 3721001"/>
              <a:gd name="connsiteX27" fmla="*/ 7276005 w 12191696"/>
              <a:gd name="connsiteY27" fmla="*/ 517405 h 3721001"/>
              <a:gd name="connsiteX28" fmla="*/ 7539345 w 12191696"/>
              <a:gd name="connsiteY28" fmla="*/ 508998 h 3721001"/>
              <a:gd name="connsiteX29" fmla="*/ 7805124 w 12191696"/>
              <a:gd name="connsiteY29" fmla="*/ 500240 h 3721001"/>
              <a:gd name="connsiteX30" fmla="*/ 8070903 w 12191696"/>
              <a:gd name="connsiteY30" fmla="*/ 490081 h 3721001"/>
              <a:gd name="connsiteX31" fmla="*/ 8339121 w 12191696"/>
              <a:gd name="connsiteY31" fmla="*/ 475719 h 3721001"/>
              <a:gd name="connsiteX32" fmla="*/ 8609776 w 12191696"/>
              <a:gd name="connsiteY32" fmla="*/ 458554 h 3721001"/>
              <a:gd name="connsiteX33" fmla="*/ 8881651 w 12191696"/>
              <a:gd name="connsiteY33" fmla="*/ 442089 h 3721001"/>
              <a:gd name="connsiteX34" fmla="*/ 9153526 w 12191696"/>
              <a:gd name="connsiteY34" fmla="*/ 421071 h 3721001"/>
              <a:gd name="connsiteX35" fmla="*/ 9429058 w 12191696"/>
              <a:gd name="connsiteY35" fmla="*/ 395848 h 3721001"/>
              <a:gd name="connsiteX36" fmla="*/ 9700933 w 12191696"/>
              <a:gd name="connsiteY36" fmla="*/ 370626 h 3721001"/>
              <a:gd name="connsiteX37" fmla="*/ 9977684 w 12191696"/>
              <a:gd name="connsiteY37" fmla="*/ 341551 h 3721001"/>
              <a:gd name="connsiteX38" fmla="*/ 10255655 w 12191696"/>
              <a:gd name="connsiteY38" fmla="*/ 309672 h 3721001"/>
              <a:gd name="connsiteX39" fmla="*/ 10529968 w 12191696"/>
              <a:gd name="connsiteY39" fmla="*/ 276043 h 3721001"/>
              <a:gd name="connsiteX40" fmla="*/ 10807939 w 12191696"/>
              <a:gd name="connsiteY40" fmla="*/ 236808 h 3721001"/>
              <a:gd name="connsiteX41" fmla="*/ 11084690 w 12191696"/>
              <a:gd name="connsiteY41" fmla="*/ 194771 h 3721001"/>
              <a:gd name="connsiteX42" fmla="*/ 11362661 w 12191696"/>
              <a:gd name="connsiteY42" fmla="*/ 153085 h 3721001"/>
              <a:gd name="connsiteX43" fmla="*/ 11639412 w 12191696"/>
              <a:gd name="connsiteY43" fmla="*/ 104392 h 3721001"/>
              <a:gd name="connsiteX44" fmla="*/ 11914945 w 12191696"/>
              <a:gd name="connsiteY44" fmla="*/ 54648 h 3721001"/>
              <a:gd name="connsiteX45" fmla="*/ 12191696 w 12191696"/>
              <a:gd name="connsiteY45" fmla="*/ 2452 h 3721001"/>
              <a:gd name="connsiteX46" fmla="*/ 12191696 w 12191696"/>
              <a:gd name="connsiteY46" fmla="*/ 2802467 h 3721001"/>
              <a:gd name="connsiteX47" fmla="*/ 12191695 w 12191696"/>
              <a:gd name="connsiteY47" fmla="*/ 2802467 h 3721001"/>
              <a:gd name="connsiteX48" fmla="*/ 12191695 w 12191696"/>
              <a:gd name="connsiteY48" fmla="*/ 3721001 h 3721001"/>
              <a:gd name="connsiteX49" fmla="*/ 0 w 12191696"/>
              <a:gd name="connsiteY49" fmla="*/ 3721001 h 3721001"/>
              <a:gd name="connsiteX50" fmla="*/ 0 w 12191696"/>
              <a:gd name="connsiteY50" fmla="*/ 2233825 h 3721001"/>
              <a:gd name="connsiteX51" fmla="*/ 1 w 12191696"/>
              <a:gd name="connsiteY51" fmla="*/ 2233825 h 3721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1696" h="3721001">
                <a:moveTo>
                  <a:pt x="1" y="0"/>
                </a:moveTo>
                <a:lnTo>
                  <a:pt x="71932" y="12261"/>
                </a:lnTo>
                <a:lnTo>
                  <a:pt x="282849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3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802467"/>
                </a:lnTo>
                <a:lnTo>
                  <a:pt x="12191695" y="2802467"/>
                </a:lnTo>
                <a:lnTo>
                  <a:pt x="12191695" y="3721001"/>
                </a:lnTo>
                <a:lnTo>
                  <a:pt x="0" y="3721001"/>
                </a:lnTo>
                <a:lnTo>
                  <a:pt x="0" y="2233825"/>
                </a:lnTo>
                <a:lnTo>
                  <a:pt x="1" y="223382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9E4044-91FE-A02D-1C93-762081033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5" y="3928983"/>
            <a:ext cx="9182945" cy="179339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100" b="0" i="0" kern="1200" noProof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Operaciones secuenciales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C584EA-8C1E-8876-402F-D222F6CD8A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6916" y="5722374"/>
            <a:ext cx="9182944" cy="4879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cap="all" noProof="1">
                <a:solidFill>
                  <a:schemeClr val="tx2">
                    <a:lumMod val="40000"/>
                    <a:lumOff val="60000"/>
                  </a:schemeClr>
                </a:solidFill>
              </a:rPr>
              <a:t>Una operación se ejecuta una a la vez, siguiendo un orden específico.</a:t>
            </a:r>
          </a:p>
        </p:txBody>
      </p:sp>
    </p:spTree>
    <p:extLst>
      <p:ext uri="{BB962C8B-B14F-4D97-AF65-F5344CB8AC3E}">
        <p14:creationId xmlns:p14="http://schemas.microsoft.com/office/powerpoint/2010/main" val="38504777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6F836-5E2E-57BC-187A-37FA5309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B13FF8-2B3C-4BC1-B3E4-254B3F8C3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E8AB1E-8EE3-36E5-0E3A-CCEFE8A78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23" y="629266"/>
            <a:ext cx="3116690" cy="559455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b="0" i="0" kern="1200" noProof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Operaciones secuenciales</a:t>
            </a: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B9C1207E-FFD8-4821-AFE6-71C72436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2B199503-2632-490F-8EB2-759D887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s-ES_tradn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1C7CB4-0228-486A-931A-262ABB670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E0EEE6-98B9-A819-4114-15A84A2691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8452" y="1410459"/>
            <a:ext cx="6495847" cy="188514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noProof="1"/>
              <a:t>Cada instrucción procesa un solo dato</a:t>
            </a:r>
          </a:p>
          <a:p>
            <a:r>
              <a:rPr lang="en-US" noProof="1"/>
              <a:t>Las operaciones siguen una secuencia definida</a:t>
            </a:r>
          </a:p>
          <a:p>
            <a:r>
              <a:rPr lang="en-US" noProof="1"/>
              <a:t>El resultado de una operación puede ser necesario para la siguiente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F60F3675-F275-7E9A-E1EA-85FEE0BDE3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6"/>
          <a:stretch>
            <a:fillRect/>
          </a:stretch>
        </p:blipFill>
        <p:spPr>
          <a:xfrm>
            <a:off x="5048452" y="3562395"/>
            <a:ext cx="6495847" cy="142908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177917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6FB32E-988B-BEE4-5374-8EC5A0B16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1">
                <a:solidFill>
                  <a:srgbClr val="EBEBEB"/>
                </a:solidFill>
              </a:rPr>
              <a:t>Paralelismo: Taxonomía de Flynn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s-ES_tradnl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72CAA213-F516-90AF-9EA7-D4679A50BA6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87237049"/>
              </p:ext>
            </p:extLst>
          </p:nvPr>
        </p:nvGraphicFramePr>
        <p:xfrm>
          <a:off x="2210154" y="2810256"/>
          <a:ext cx="7772923" cy="3404279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</a:tblPr>
              <a:tblGrid>
                <a:gridCol w="3449938">
                  <a:extLst>
                    <a:ext uri="{9D8B030D-6E8A-4147-A177-3AD203B41FA5}">
                      <a16:colId xmlns:a16="http://schemas.microsoft.com/office/drawing/2014/main" val="4155385950"/>
                    </a:ext>
                  </a:extLst>
                </a:gridCol>
                <a:gridCol w="2049301">
                  <a:extLst>
                    <a:ext uri="{9D8B030D-6E8A-4147-A177-3AD203B41FA5}">
                      <a16:colId xmlns:a16="http://schemas.microsoft.com/office/drawing/2014/main" val="2821397158"/>
                    </a:ext>
                  </a:extLst>
                </a:gridCol>
                <a:gridCol w="2273684">
                  <a:extLst>
                    <a:ext uri="{9D8B030D-6E8A-4147-A177-3AD203B41FA5}">
                      <a16:colId xmlns:a16="http://schemas.microsoft.com/office/drawing/2014/main" val="2560109105"/>
                    </a:ext>
                  </a:extLst>
                </a:gridCol>
              </a:tblGrid>
              <a:tr h="12806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_tradnl" sz="2900" b="0" i="0" u="none" strike="noStrike" cap="none" spc="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0347" marR="364740" marT="42956" marB="322172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_tradnl" sz="2900" b="1" i="0" u="none" strike="noStrike" cap="none" spc="0" noProof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Un dato</a:t>
                      </a:r>
                      <a:endParaRPr lang="es-ES_tradnl" sz="2900" b="0" i="0" u="none" strike="noStrike" cap="none" spc="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0347" marR="364740" marT="42956" marB="3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_tradnl" sz="2900" b="1" i="0" u="none" strike="noStrike" cap="none" spc="0" noProof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Múltiples datos</a:t>
                      </a:r>
                      <a:endParaRPr lang="es-ES_tradnl" sz="2900" b="0" i="0" u="none" strike="noStrike" cap="none" spc="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0347" marR="364740" marT="42956" marB="3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501050"/>
                  </a:ext>
                </a:extLst>
              </a:tr>
              <a:tr h="8430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_tradnl" sz="2900" b="1" i="0" u="none" strike="noStrike" cap="none" spc="0" noProof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Una instrucción</a:t>
                      </a:r>
                      <a:endParaRPr lang="es-ES_tradnl" sz="2900" b="0" i="0" u="none" strike="noStrike" cap="none" spc="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0347" marR="364740" marT="42956" marB="322172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_tradnl" sz="2900" b="0" i="0" u="none" strike="noStrike" cap="none" spc="0" noProof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SISD</a:t>
                      </a:r>
                    </a:p>
                  </a:txBody>
                  <a:tcPr marL="150347" marR="364740" marT="42956" marB="3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_tradnl" sz="2900" b="1" i="0" u="none" strike="noStrike" cap="none" spc="0" noProof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SIMD</a:t>
                      </a:r>
                      <a:endParaRPr lang="es-ES_tradnl" sz="2900" b="0" i="0" u="none" strike="noStrike" cap="none" spc="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0347" marR="364740" marT="42956" marB="3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797284"/>
                  </a:ext>
                </a:extLst>
              </a:tr>
              <a:tr h="12806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_tradnl" sz="2900" b="1" i="0" u="none" strike="noStrike" cap="none" spc="0" noProof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Múltiples instrucciones</a:t>
                      </a:r>
                      <a:endParaRPr lang="es-ES_tradnl" sz="2900" b="0" i="0" u="none" strike="noStrike" cap="none" spc="0" noProof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0347" marR="364740" marT="42956" marB="322172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_tradnl" sz="2900" b="0" i="0" u="none" strike="noStrike" cap="none" spc="0" noProof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MISD (raro)</a:t>
                      </a:r>
                    </a:p>
                  </a:txBody>
                  <a:tcPr marL="150347" marR="364740" marT="42956" marB="3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_tradnl" sz="2900" b="0" i="0" u="none" strike="noStrike" cap="none" spc="0" noProof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MIMD</a:t>
                      </a:r>
                    </a:p>
                  </a:txBody>
                  <a:tcPr marL="150347" marR="364740" marT="42956" marB="32217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843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402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3CFD9982-764C-E6D0-1B16-FE4244964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Paralelismo: Taxonomía de Flynn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44CECCE-55A3-9783-489F-4A342B6DF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noProof="1"/>
              <a:t>SISD (Single Instruction, Single Data)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78898886-31CE-0D0D-E0BB-2E15B133B4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_tradnl" noProof="1"/>
              <a:t>Modelo tradicional (secuencial)</a:t>
            </a:r>
          </a:p>
          <a:p>
            <a:r>
              <a:rPr lang="es-ES_tradnl" noProof="1"/>
              <a:t>Una operación sobre un dato</a:t>
            </a:r>
          </a:p>
          <a:p>
            <a:r>
              <a:rPr lang="es-ES_tradnl" noProof="1"/>
              <a:t>Monoprocesadores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607EAF69-BAC4-30B7-80ED-9B198D63A6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_tradnl" noProof="1"/>
              <a:t>MISD (Multiple Instruction, Single Data)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73C96CC9-CEA8-ED20-15BD-AD8EB1226A8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ES_tradnl" noProof="1"/>
              <a:t>Varias instrucciones sobre el mismo dato</a:t>
            </a:r>
          </a:p>
          <a:p>
            <a:r>
              <a:rPr lang="es-ES_tradnl" noProof="1"/>
              <a:t>Prácticamente no usado</a:t>
            </a:r>
          </a:p>
          <a:p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1592640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A1105-AD70-F9C5-2AE6-4FA7729D5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6D1974EC-3B8B-1A51-84BE-D3451E1CC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Paralelismo: Taxonomía de Flynn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CF6BC92-E03F-B89C-CC68-39EA786C8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noProof="1"/>
              <a:t>MIMD (Multiple Instruction, Multiple Data)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5D3332F-3F88-E66F-DAFA-FEBF2308D9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_tradnl" noProof="1"/>
              <a:t>Múltiples programas/datos en paralelo</a:t>
            </a:r>
          </a:p>
          <a:p>
            <a:r>
              <a:rPr lang="es-ES_tradnl" noProof="1"/>
              <a:t>Ej: multithreading, multicore, clusters.</a:t>
            </a:r>
          </a:p>
          <a:p>
            <a:pPr marL="0" indent="0">
              <a:buNone/>
            </a:pPr>
            <a:endParaRPr lang="es-ES_tradnl" noProof="1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4658077-3B2C-7066-7509-8870914C69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_tradnl" noProof="1"/>
              <a:t>SIMD (Single Instruction, Multiple Data) 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1B9A5F72-FD6A-4D9E-FD5A-FA0ADB61428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ES_tradnl" noProof="1"/>
              <a:t>Una instrucción sobre muchos datos.</a:t>
            </a:r>
          </a:p>
          <a:p>
            <a:r>
              <a:rPr lang="es-ES_tradnl" noProof="1"/>
              <a:t>Base de instrucciones vectoriales.</a:t>
            </a:r>
          </a:p>
          <a:p>
            <a:r>
              <a:rPr lang="es-ES_tradnl" noProof="1"/>
              <a:t>Usado en CPUs modernas (AVX, SSE, ARM NEON)</a:t>
            </a:r>
          </a:p>
        </p:txBody>
      </p:sp>
    </p:spTree>
    <p:extLst>
      <p:ext uri="{BB962C8B-B14F-4D97-AF65-F5344CB8AC3E}">
        <p14:creationId xmlns:p14="http://schemas.microsoft.com/office/powerpoint/2010/main" val="2206400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8BD142C-B13D-7065-341A-F93A731AF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b="1" noProof="1"/>
              <a:t>¿Por qué SIMD es tan importante?</a:t>
            </a:r>
            <a:endParaRPr lang="es-ES_tradnl" noProof="1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AC1D06E0-05DB-79D7-0C38-B0AA1E53AE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ES_tradnl" noProof="1"/>
              <a:t>Muchos problemas aplican la misma operación a muchos datos.</a:t>
            </a:r>
          </a:p>
          <a:p>
            <a:r>
              <a:rPr lang="es-ES_tradnl" noProof="1"/>
              <a:t>Mejora significativamente el rendimiento en tareas intensivas de cálculo.</a:t>
            </a:r>
          </a:p>
          <a:p>
            <a:r>
              <a:rPr lang="es-ES_tradnl" noProof="1"/>
              <a:t>Para tareas pequeñas o medianas, SIMD en CPU evita el alto costo de transferencia de datos entre CPU y GPU.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10432D3C-393C-2E7B-0258-3A66FC1D72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527883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5C0486-C8F8-224C-FC25-3EC3303BF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i="0" kern="1200" noProof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¿Qué es AVX?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s-ES_tradnl"/>
          </a:p>
        </p:txBody>
      </p:sp>
      <p:pic>
        <p:nvPicPr>
          <p:cNvPr id="5" name="Picture 2" descr="cpu-z instrucciones avx intel">
            <a:extLst>
              <a:ext uri="{FF2B5EF4-FFF2-40B4-BE49-F238E27FC236}">
                <a16:creationId xmlns:a16="http://schemas.microsoft.com/office/drawing/2014/main" id="{2806FA02-A28A-BEB0-3047-8EF30058E71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093992" y="710849"/>
            <a:ext cx="5449889" cy="543629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C2C055-D464-5ABC-54C7-7FAE915EC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8931" y="2438400"/>
            <a:ext cx="4166509" cy="37854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noProof="1">
                <a:solidFill>
                  <a:srgbClr val="EBEBEB"/>
                </a:solidFill>
              </a:rPr>
              <a:t>Advanced Vector Extension</a:t>
            </a:r>
          </a:p>
          <a:p>
            <a:r>
              <a:rPr lang="en-US" noProof="1">
                <a:solidFill>
                  <a:srgbClr val="EBEBEB"/>
                </a:solidFill>
              </a:rPr>
              <a:t>Pueden procesarse en paralelo.</a:t>
            </a:r>
          </a:p>
          <a:p>
            <a:r>
              <a:rPr lang="en-US" noProof="1">
                <a:solidFill>
                  <a:srgbClr val="EBEBEB"/>
                </a:solidFill>
              </a:rPr>
              <a:t>Usa registros XMM, YMM y ZMM.</a:t>
            </a:r>
          </a:p>
          <a:p>
            <a:r>
              <a:rPr lang="en-US" noProof="1">
                <a:solidFill>
                  <a:srgbClr val="EBEBEB"/>
                </a:solidFill>
              </a:rPr>
              <a:t>Existen en casi todo procesador actual.</a:t>
            </a:r>
          </a:p>
        </p:txBody>
      </p:sp>
    </p:spTree>
    <p:extLst>
      <p:ext uri="{BB962C8B-B14F-4D97-AF65-F5344CB8AC3E}">
        <p14:creationId xmlns:p14="http://schemas.microsoft.com/office/powerpoint/2010/main" val="224260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553317-C73E-7407-0008-E465C231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i="0" kern="1200" noProof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Operaciones secuenciales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s-ES_tradnl"/>
          </a:p>
        </p:txBody>
      </p:sp>
      <p:pic>
        <p:nvPicPr>
          <p:cNvPr id="6" name="Marcador de contenido 5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1FCFEDB8-050F-C7ED-59DC-7348975607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6"/>
          <a:stretch>
            <a:fillRect/>
          </a:stretch>
        </p:blipFill>
        <p:spPr>
          <a:xfrm>
            <a:off x="6093992" y="1432977"/>
            <a:ext cx="5449889" cy="3992043"/>
          </a:xfrm>
          <a:prstGeom prst="rect">
            <a:avLst/>
          </a:prstGeom>
          <a:effectLst/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D60ABB-98A7-95F7-F086-B036D3A187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8931" y="2438400"/>
            <a:ext cx="4166509" cy="37854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noProof="1">
                <a:solidFill>
                  <a:srgbClr val="EBEBEB"/>
                </a:solidFill>
              </a:rPr>
              <a:t>XMM es un único bloque de 128 bits.</a:t>
            </a:r>
          </a:p>
          <a:p>
            <a:r>
              <a:rPr lang="en-US" noProof="1">
                <a:solidFill>
                  <a:srgbClr val="EBEBEB"/>
                </a:solidFill>
              </a:rPr>
              <a:t>YMM son dos bloques de 128 bits (256 bits en total)</a:t>
            </a:r>
          </a:p>
          <a:p>
            <a:r>
              <a:rPr lang="en-US" noProof="1">
                <a:solidFill>
                  <a:srgbClr val="EBEBEB"/>
                </a:solidFill>
              </a:rPr>
              <a:t>ZMM son cuatro bloques de128 bits (512 bits en total)</a:t>
            </a:r>
          </a:p>
          <a:p>
            <a:endParaRPr lang="en-US" noProof="1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535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Marcador de contenido 4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348FC2C6-559C-6257-69DF-C03F83187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866" y="643466"/>
            <a:ext cx="7616268" cy="557106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04745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58B753-E872-0611-B1DB-EB0187F9B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b="0" i="0" kern="1200" noProof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Ejemplo de un XOR de 32 bits en XMM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5" name="Marcador de contenido 4" descr="Diagrama&#10;&#10;Descripción generada automáticamente">
            <a:extLst>
              <a:ext uri="{FF2B5EF4-FFF2-40B4-BE49-F238E27FC236}">
                <a16:creationId xmlns:a16="http://schemas.microsoft.com/office/drawing/2014/main" id="{92C14217-B8BD-54A7-4194-5CA2558AC2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643854" y="1257549"/>
            <a:ext cx="6270662" cy="434243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293066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8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10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1" name="Oval 12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32" name="Picture 14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3" name="Picture 16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4" name="Rectangle 18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35" name="Rectangle 20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Marcador de contenido 3" descr="Texto&#10;&#10;Descripción generada automáticamente">
            <a:extLst>
              <a:ext uri="{FF2B5EF4-FFF2-40B4-BE49-F238E27FC236}">
                <a16:creationId xmlns:a16="http://schemas.microsoft.com/office/drawing/2014/main" id="{7C3F6B9F-2A33-0B8F-2A29-CA84BC269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643467" y="1520613"/>
            <a:ext cx="10905066" cy="3816773"/>
          </a:xfrm>
          <a:prstGeom prst="rect">
            <a:avLst/>
          </a:prstGeom>
        </p:spPr>
      </p:pic>
      <p:sp>
        <p:nvSpPr>
          <p:cNvPr id="36" name="Rectangle 22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5002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0F6071B-48FA-4685-A9C9-A7B21E1C1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Marcador de contenido 9" descr="Diagrama&#10;&#10;Descripción generada automáticamente">
            <a:extLst>
              <a:ext uri="{FF2B5EF4-FFF2-40B4-BE49-F238E27FC236}">
                <a16:creationId xmlns:a16="http://schemas.microsoft.com/office/drawing/2014/main" id="{4D356587-5948-DD99-05E5-778E908985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635458" y="704287"/>
            <a:ext cx="9150807" cy="2745241"/>
          </a:xfrm>
          <a:prstGeom prst="rect">
            <a:avLst/>
          </a:prstGeom>
          <a:effectLst/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C56044C-1580-4C45-8AA3-F2A07478B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1A8E3CE-561F-42BE-B6A2-FBE96F9A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3579207"/>
            <a:ext cx="12191696" cy="3278793"/>
          </a:xfrm>
          <a:custGeom>
            <a:avLst/>
            <a:gdLst>
              <a:gd name="connsiteX0" fmla="*/ 1 w 12191696"/>
              <a:gd name="connsiteY0" fmla="*/ 0 h 3278793"/>
              <a:gd name="connsiteX1" fmla="*/ 71932 w 12191696"/>
              <a:gd name="connsiteY1" fmla="*/ 12261 h 3278793"/>
              <a:gd name="connsiteX2" fmla="*/ 282849 w 12191696"/>
              <a:gd name="connsiteY2" fmla="*/ 48343 h 3278793"/>
              <a:gd name="connsiteX3" fmla="*/ 436464 w 12191696"/>
              <a:gd name="connsiteY3" fmla="*/ 73565 h 3278793"/>
              <a:gd name="connsiteX4" fmla="*/ 619339 w 12191696"/>
              <a:gd name="connsiteY4" fmla="*/ 100188 h 3278793"/>
              <a:gd name="connsiteX5" fmla="*/ 836351 w 12191696"/>
              <a:gd name="connsiteY5" fmla="*/ 132066 h 3278793"/>
              <a:gd name="connsiteX6" fmla="*/ 1076528 w 12191696"/>
              <a:gd name="connsiteY6" fmla="*/ 165696 h 3278793"/>
              <a:gd name="connsiteX7" fmla="*/ 1347183 w 12191696"/>
              <a:gd name="connsiteY7" fmla="*/ 201077 h 3278793"/>
              <a:gd name="connsiteX8" fmla="*/ 1642223 w 12191696"/>
              <a:gd name="connsiteY8" fmla="*/ 238560 h 3278793"/>
              <a:gd name="connsiteX9" fmla="*/ 1962864 w 12191696"/>
              <a:gd name="connsiteY9" fmla="*/ 276043 h 3278793"/>
              <a:gd name="connsiteX10" fmla="*/ 2304232 w 12191696"/>
              <a:gd name="connsiteY10" fmla="*/ 314227 h 3278793"/>
              <a:gd name="connsiteX11" fmla="*/ 2672421 w 12191696"/>
              <a:gd name="connsiteY11" fmla="*/ 349608 h 3278793"/>
              <a:gd name="connsiteX12" fmla="*/ 3057678 w 12191696"/>
              <a:gd name="connsiteY12" fmla="*/ 383588 h 3278793"/>
              <a:gd name="connsiteX13" fmla="*/ 3464881 w 12191696"/>
              <a:gd name="connsiteY13" fmla="*/ 414415 h 3278793"/>
              <a:gd name="connsiteX14" fmla="*/ 3889152 w 12191696"/>
              <a:gd name="connsiteY14" fmla="*/ 443841 h 3278793"/>
              <a:gd name="connsiteX15" fmla="*/ 4331710 w 12191696"/>
              <a:gd name="connsiteY15" fmla="*/ 471515 h 3278793"/>
              <a:gd name="connsiteX16" fmla="*/ 4558476 w 12191696"/>
              <a:gd name="connsiteY16" fmla="*/ 481324 h 3278793"/>
              <a:gd name="connsiteX17" fmla="*/ 4790118 w 12191696"/>
              <a:gd name="connsiteY17" fmla="*/ 492183 h 3278793"/>
              <a:gd name="connsiteX18" fmla="*/ 5025418 w 12191696"/>
              <a:gd name="connsiteY18" fmla="*/ 502342 h 3278793"/>
              <a:gd name="connsiteX19" fmla="*/ 5261937 w 12191696"/>
              <a:gd name="connsiteY19" fmla="*/ 508998 h 3278793"/>
              <a:gd name="connsiteX20" fmla="*/ 5503333 w 12191696"/>
              <a:gd name="connsiteY20" fmla="*/ 514953 h 3278793"/>
              <a:gd name="connsiteX21" fmla="*/ 5747166 w 12191696"/>
              <a:gd name="connsiteY21" fmla="*/ 521259 h 3278793"/>
              <a:gd name="connsiteX22" fmla="*/ 5995877 w 12191696"/>
              <a:gd name="connsiteY22" fmla="*/ 525463 h 3278793"/>
              <a:gd name="connsiteX23" fmla="*/ 6247026 w 12191696"/>
              <a:gd name="connsiteY23" fmla="*/ 525463 h 3278793"/>
              <a:gd name="connsiteX24" fmla="*/ 6500613 w 12191696"/>
              <a:gd name="connsiteY24" fmla="*/ 527565 h 3278793"/>
              <a:gd name="connsiteX25" fmla="*/ 6756639 w 12191696"/>
              <a:gd name="connsiteY25" fmla="*/ 525463 h 3278793"/>
              <a:gd name="connsiteX26" fmla="*/ 7016322 w 12191696"/>
              <a:gd name="connsiteY26" fmla="*/ 521259 h 3278793"/>
              <a:gd name="connsiteX27" fmla="*/ 7276005 w 12191696"/>
              <a:gd name="connsiteY27" fmla="*/ 517406 h 3278793"/>
              <a:gd name="connsiteX28" fmla="*/ 7539345 w 12191696"/>
              <a:gd name="connsiteY28" fmla="*/ 508998 h 3278793"/>
              <a:gd name="connsiteX29" fmla="*/ 7805124 w 12191696"/>
              <a:gd name="connsiteY29" fmla="*/ 500241 h 3278793"/>
              <a:gd name="connsiteX30" fmla="*/ 8070903 w 12191696"/>
              <a:gd name="connsiteY30" fmla="*/ 490082 h 3278793"/>
              <a:gd name="connsiteX31" fmla="*/ 8339121 w 12191696"/>
              <a:gd name="connsiteY31" fmla="*/ 475719 h 3278793"/>
              <a:gd name="connsiteX32" fmla="*/ 8609776 w 12191696"/>
              <a:gd name="connsiteY32" fmla="*/ 458554 h 3278793"/>
              <a:gd name="connsiteX33" fmla="*/ 8881651 w 12191696"/>
              <a:gd name="connsiteY33" fmla="*/ 442089 h 3278793"/>
              <a:gd name="connsiteX34" fmla="*/ 9153526 w 12191696"/>
              <a:gd name="connsiteY34" fmla="*/ 421071 h 3278793"/>
              <a:gd name="connsiteX35" fmla="*/ 9429058 w 12191696"/>
              <a:gd name="connsiteY35" fmla="*/ 395849 h 3278793"/>
              <a:gd name="connsiteX36" fmla="*/ 9700933 w 12191696"/>
              <a:gd name="connsiteY36" fmla="*/ 370626 h 3278793"/>
              <a:gd name="connsiteX37" fmla="*/ 9977684 w 12191696"/>
              <a:gd name="connsiteY37" fmla="*/ 341551 h 3278793"/>
              <a:gd name="connsiteX38" fmla="*/ 10255655 w 12191696"/>
              <a:gd name="connsiteY38" fmla="*/ 309673 h 3278793"/>
              <a:gd name="connsiteX39" fmla="*/ 10529968 w 12191696"/>
              <a:gd name="connsiteY39" fmla="*/ 276043 h 3278793"/>
              <a:gd name="connsiteX40" fmla="*/ 10807939 w 12191696"/>
              <a:gd name="connsiteY40" fmla="*/ 236809 h 3278793"/>
              <a:gd name="connsiteX41" fmla="*/ 11084690 w 12191696"/>
              <a:gd name="connsiteY41" fmla="*/ 194772 h 3278793"/>
              <a:gd name="connsiteX42" fmla="*/ 11362661 w 12191696"/>
              <a:gd name="connsiteY42" fmla="*/ 153085 h 3278793"/>
              <a:gd name="connsiteX43" fmla="*/ 11639412 w 12191696"/>
              <a:gd name="connsiteY43" fmla="*/ 104392 h 3278793"/>
              <a:gd name="connsiteX44" fmla="*/ 11914945 w 12191696"/>
              <a:gd name="connsiteY44" fmla="*/ 54648 h 3278793"/>
              <a:gd name="connsiteX45" fmla="*/ 12191696 w 12191696"/>
              <a:gd name="connsiteY45" fmla="*/ 2452 h 3278793"/>
              <a:gd name="connsiteX46" fmla="*/ 12191696 w 12191696"/>
              <a:gd name="connsiteY46" fmla="*/ 2802467 h 3278793"/>
              <a:gd name="connsiteX47" fmla="*/ 12191695 w 12191696"/>
              <a:gd name="connsiteY47" fmla="*/ 2802467 h 3278793"/>
              <a:gd name="connsiteX48" fmla="*/ 12191695 w 12191696"/>
              <a:gd name="connsiteY48" fmla="*/ 3278793 h 3278793"/>
              <a:gd name="connsiteX49" fmla="*/ 0 w 12191696"/>
              <a:gd name="connsiteY49" fmla="*/ 3278793 h 3278793"/>
              <a:gd name="connsiteX50" fmla="*/ 0 w 12191696"/>
              <a:gd name="connsiteY50" fmla="*/ 2134639 h 3278793"/>
              <a:gd name="connsiteX51" fmla="*/ 1 w 12191696"/>
              <a:gd name="connsiteY51" fmla="*/ 2134639 h 3278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1696" h="327879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3" y="514953"/>
                </a:lnTo>
                <a:lnTo>
                  <a:pt x="5747166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802467"/>
                </a:lnTo>
                <a:lnTo>
                  <a:pt x="12191695" y="2802467"/>
                </a:lnTo>
                <a:lnTo>
                  <a:pt x="12191695" y="3278793"/>
                </a:lnTo>
                <a:lnTo>
                  <a:pt x="0" y="3278793"/>
                </a:lnTo>
                <a:lnTo>
                  <a:pt x="0" y="2134639"/>
                </a:lnTo>
                <a:lnTo>
                  <a:pt x="1" y="2134639"/>
                </a:lnTo>
                <a:close/>
              </a:path>
            </a:pathLst>
          </a:custGeom>
          <a:ln>
            <a:noFill/>
          </a:ln>
        </p:spPr>
        <p:style>
          <a:lnRef idx="0">
            <a:scrgbClr r="0" g="0" b="0"/>
          </a:lnRef>
          <a:fillRef idx="1003">
            <a:schemeClr val="dk2"/>
          </a:fillRef>
          <a:effectRef idx="0">
            <a:scrgbClr r="0" g="0" b="0"/>
          </a:effectRef>
          <a:fontRef idx="major"/>
        </p:style>
        <p:txBody>
          <a:bodyPr/>
          <a:lstStyle/>
          <a:p>
            <a:endParaRPr lang="es-ES_tradnl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9B95E8A-BBB4-5A82-6A9D-B4D654F69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371849"/>
            <a:ext cx="9149350" cy="135052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Como leer una instrucción</a:t>
            </a:r>
          </a:p>
        </p:txBody>
      </p:sp>
      <p:sp>
        <p:nvSpPr>
          <p:cNvPr id="33" name="Freeform 16">
            <a:extLst>
              <a:ext uri="{FF2B5EF4-FFF2-40B4-BE49-F238E27FC236}">
                <a16:creationId xmlns:a16="http://schemas.microsoft.com/office/drawing/2014/main" id="{7DE548AA-7E1A-497C-8B79-C74F42ACF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40" y="3280011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600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033A78-B44A-839A-17F5-2630BE499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es-ES_tradnl"/>
              <a:t>Tipo de registro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2D841B-BC25-AF9B-BCFE-2AEA9D7E2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r>
              <a:rPr lang="es-ES_tradnl"/>
              <a:t>__m128: Registros de 128 bits de punto flotante de 32bits</a:t>
            </a:r>
          </a:p>
          <a:p>
            <a:r>
              <a:rPr lang="es-ES_tradnl"/>
              <a:t>__m128i: Registros enteros de 128 bits, pueden ser de 8, 16, 32, 64 bits.</a:t>
            </a:r>
          </a:p>
          <a:p>
            <a:r>
              <a:rPr lang="es-ES_tradnl"/>
              <a:t>__m128d: Registros de 128 bits de doble precisión de 64 bits.</a:t>
            </a:r>
          </a:p>
          <a:p>
            <a:r>
              <a:rPr lang="es-MX"/>
              <a:t>__m128h: </a:t>
            </a:r>
            <a:r>
              <a:rPr lang="es-ES_tradnl"/>
              <a:t>Registros de 128 bits de media precisión de 16 bits.</a:t>
            </a:r>
          </a:p>
          <a:p>
            <a:endParaRPr lang="es-ES_tradnl"/>
          </a:p>
          <a:p>
            <a:r>
              <a:rPr lang="es-ES_tradnl"/>
              <a:t>Este patrón se repite para todos los tamaños 128, 256 y 512 bits.</a:t>
            </a:r>
          </a:p>
          <a:p>
            <a:endParaRPr lang="es-ES_tradnl"/>
          </a:p>
          <a:p>
            <a:endParaRPr lang="es-ES_tradnl"/>
          </a:p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61471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ADF9A-32B7-0518-9982-8E313BF91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0500E-D57C-7459-B16F-3DABB2DB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Tamaño del bloque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25A649-5CCF-0A99-15E0-2FE815D3F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24FD0A46-1D51-2FF3-D395-390D6EF95C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4544" y="1690688"/>
          <a:ext cx="9121394" cy="4483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Hoja de cálculo" r:id="rId2" imgW="5270500" imgH="2590800" progId="Excel.Sheet.12">
                  <p:embed/>
                </p:oleObj>
              </mc:Choice>
              <mc:Fallback>
                <p:oleObj name="Hoja de cálculo" r:id="rId2" imgW="5270500" imgH="2590800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24FD0A46-1D51-2FF3-D395-390D6EF95C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04544" y="1690688"/>
                        <a:ext cx="9121394" cy="44837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6656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97E7C-D57B-8321-6FE6-08E6890C5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 descr="Texto&#10;&#10;Descripción generada automáticamente">
            <a:extLst>
              <a:ext uri="{FF2B5EF4-FFF2-40B4-BE49-F238E27FC236}">
                <a16:creationId xmlns:a16="http://schemas.microsoft.com/office/drawing/2014/main" id="{15C492CE-CC65-85F5-0E07-DF8C728E8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520613"/>
            <a:ext cx="10905066" cy="381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178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11F9F-C755-77A8-0556-4A5B078C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1"/>
              <a:t>Latencia y el Throughput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B82337-D157-002C-0B27-A7249BFF77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ES_tradnl" noProof="1"/>
              <a:t>Latencia es el tiempo desde que inicia la instrucción hasta que el resultado esta disponible.</a:t>
            </a:r>
          </a:p>
          <a:p>
            <a:r>
              <a:rPr lang="es-ES_tradnl" noProof="1"/>
              <a:t>Throughput es el número total de instrucciones que Podemos ejecutar en un bloque de tiempo</a:t>
            </a:r>
          </a:p>
          <a:p>
            <a:endParaRPr lang="es-ES_tradnl" noProof="1"/>
          </a:p>
        </p:txBody>
      </p:sp>
      <p:pic>
        <p:nvPicPr>
          <p:cNvPr id="6" name="Picture 2" descr="The difference between throughput and latency">
            <a:extLst>
              <a:ext uri="{FF2B5EF4-FFF2-40B4-BE49-F238E27FC236}">
                <a16:creationId xmlns:a16="http://schemas.microsoft.com/office/drawing/2014/main" id="{7F92699A-8C37-5592-4BC8-C5F16531CF6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54675" y="2911454"/>
            <a:ext cx="4395788" cy="2489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6402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7CA421-FA2B-47ED-A101-F8BBEBB29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B4F239F-FE3F-B624-B513-C1BA0D94F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279" y="1325880"/>
            <a:ext cx="3344020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Latencia</a:t>
            </a:r>
            <a:r>
              <a:rPr lang="en-US" sz="50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50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througput</a:t>
            </a:r>
            <a:endParaRPr lang="en-US" sz="50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CE16D2-A960-1C2C-50E2-3FFDF92CC84F}"/>
              </a:ext>
            </a:extLst>
          </p:cNvPr>
          <p:cNvSpPr txBox="1"/>
          <p:nvPr/>
        </p:nvSpPr>
        <p:spPr>
          <a:xfrm>
            <a:off x="8200279" y="4588329"/>
            <a:ext cx="3344020" cy="16219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CPI =  Ciclos por Instruccion</a:t>
            </a: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2425D82-CD5E-45A4-9542-70951E59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914" y="639905"/>
            <a:ext cx="6915664" cy="557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1DB897-A621-4D5F-AC81-91199AC4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7" name="Marcador de contenido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2D35796F-D474-27C1-FC40-07AEFE2936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955392" y="1509699"/>
            <a:ext cx="6275584" cy="384379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977366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8" name="Picture 11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9" name="Oval 13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1E94DB0-71A0-43A1-64A2-BBED26120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2524804" y="643467"/>
            <a:ext cx="7142392" cy="557106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72194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9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7" name="Picture 11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8" name="Oval 13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29" name="Picture 15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0" name="Picture 17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1" name="Rectangle 19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195E0D0-A0C2-05EF-C813-DA062B8A81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2044315" y="643467"/>
            <a:ext cx="8103369" cy="5571066"/>
          </a:xfrm>
          <a:prstGeom prst="rect">
            <a:avLst/>
          </a:prstGeom>
        </p:spPr>
      </p:pic>
      <p:sp>
        <p:nvSpPr>
          <p:cNvPr id="33" name="Rectangle 23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84205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B9783-D762-E25A-EEDF-BAADDDB90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s-ES_tradnl">
                <a:solidFill>
                  <a:srgbClr val="EBEBEB"/>
                </a:solidFill>
              </a:rPr>
              <a:t>Pipeline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4A7348-C06C-7CDC-CC74-8D3E73986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r>
              <a:rPr lang="es-ES_tradnl">
                <a:solidFill>
                  <a:srgbClr val="FFFFFF"/>
                </a:solidFill>
              </a:rPr>
              <a:t>Secuencia de procesos o etapas conectadas, donde la salida de cada paso se convierte en la entrada del siguiente, formando un flujo continuo de datos o tareas.</a:t>
            </a:r>
          </a:p>
          <a:p>
            <a:endParaRPr lang="es-ES_tradnl">
              <a:solidFill>
                <a:srgbClr val="FFFFFF"/>
              </a:solidFill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rganizadores de diferentes colores">
            <a:extLst>
              <a:ext uri="{FF2B5EF4-FFF2-40B4-BE49-F238E27FC236}">
                <a16:creationId xmlns:a16="http://schemas.microsoft.com/office/drawing/2014/main" id="{514638A7-877B-3B1D-1A14-2E3CE1093E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61" r="28055" b="1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70523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341988E-5839-B7FF-BC32-82DAD4674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1966857" y="643467"/>
            <a:ext cx="8258285" cy="557106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86677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0A86CAF-13C3-133E-2DED-68F44B182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1984512" y="643467"/>
            <a:ext cx="8222976" cy="557106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84682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9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6" name="Picture 11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7" name="Oval 13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28" name="Picture 15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9" name="Picture 17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0" name="Rectangle 19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40E898E-EA57-0C07-A3A2-8356175EC8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1984512" y="643467"/>
            <a:ext cx="8222976" cy="557106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97896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ED84A18-EAF5-4DED-72A5-C4A290951B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1984512" y="643467"/>
            <a:ext cx="8222976" cy="557106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09139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BE2C4BB-3890-E95C-E636-EBA3B0820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1984512" y="643467"/>
            <a:ext cx="8222976" cy="557106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2958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549FF-1D68-0A07-7734-C1E3CCC1F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E6C4E6-7CF5-58D9-CF82-DD818BB38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70255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1ECF79-8372-12C0-597C-BB22033C1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09F268-A45B-4517-B03F-2774BAE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9D71B14-7808-43E1-BE42-8C6201370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75159CC-476F-4924-3F67-E08E37FF73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1966857" y="643467"/>
            <a:ext cx="825828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869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27226-7F52-AEE6-14A6-0ED56FDF0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09F268-A45B-4517-B03F-2774BAE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654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9D71B14-7808-43E1-BE42-8C6201370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53DEDBA-308D-A66B-3839-A98029975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1984512" y="643467"/>
            <a:ext cx="822297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92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2" name="Oval 41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309F268-A45B-4517-B03F-2774BAE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9D71B14-7808-43E1-BE42-8C6201370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61FE7A4-EB0D-7A63-2E3D-F463B1E778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1979146" y="643467"/>
            <a:ext cx="823370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9490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09F268-A45B-4517-B03F-2774BAE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654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9D71B14-7808-43E1-BE42-8C6201370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C8F1AEC-AC35-8A3D-F706-035878CED8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1984512" y="643467"/>
            <a:ext cx="822297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917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09F268-A45B-4517-B03F-2774BAE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9D71B14-7808-43E1-BE42-8C6201370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93328F9-9F20-D74B-4AF5-7AFC56FF34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2884444" y="643467"/>
            <a:ext cx="6423111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5378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8A5868-C244-9906-4601-8E53A8729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012" y="1447800"/>
            <a:ext cx="5222325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dirty="0">
                <a:solidFill>
                  <a:srgbClr val="EBEBEB"/>
                </a:solidFill>
              </a:rPr>
              <a:t>AES ECB </a:t>
            </a:r>
            <a:r>
              <a:rPr lang="en-US" sz="7200" dirty="0" err="1">
                <a:solidFill>
                  <a:srgbClr val="EBEBEB"/>
                </a:solidFill>
              </a:rPr>
              <a:t>en</a:t>
            </a:r>
            <a:r>
              <a:rPr lang="en-US" sz="7200" dirty="0">
                <a:solidFill>
                  <a:srgbClr val="EBEBEB"/>
                </a:solidFill>
              </a:rPr>
              <a:t> Pipeline</a:t>
            </a: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5692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gura de ventilador en espiral">
            <a:extLst>
              <a:ext uri="{FF2B5EF4-FFF2-40B4-BE49-F238E27FC236}">
                <a16:creationId xmlns:a16="http://schemas.microsoft.com/office/drawing/2014/main" id="{1BA0CB71-2F76-BBAB-36A1-76F4EB48A5D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532" r="49844" b="-1"/>
          <a:stretch>
            <a:fillRect/>
          </a:stretch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796974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619CE-1EA7-C27E-F764-F094BC29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es-ES_tradnl">
                <a:solidFill>
                  <a:srgbClr val="EBEBEB"/>
                </a:solidFill>
              </a:rPr>
              <a:t>Actividad en conjunto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s-ES_tradnl"/>
          </a:p>
        </p:txBody>
      </p:sp>
      <p:pic>
        <p:nvPicPr>
          <p:cNvPr id="25" name="Picture 4" descr="Plataforma petrolífera">
            <a:extLst>
              <a:ext uri="{FF2B5EF4-FFF2-40B4-BE49-F238E27FC236}">
                <a16:creationId xmlns:a16="http://schemas.microsoft.com/office/drawing/2014/main" id="{D334C959-5D12-326D-A021-4C7AF0EB9D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63" r="28133" b="-1"/>
          <a:stretch>
            <a:fillRect/>
          </a:stretch>
        </p:blipFill>
        <p:spPr>
          <a:xfrm>
            <a:off x="6806042" y="647698"/>
            <a:ext cx="4025789" cy="5562601"/>
          </a:xfrm>
          <a:prstGeom prst="rect">
            <a:avLst/>
          </a:prstGeom>
          <a:effectLst/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A00A52-65F1-BD01-860B-DB7B2FF5E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r>
              <a:rPr lang="es-ES_tradnl" dirty="0">
                <a:solidFill>
                  <a:srgbClr val="EBEBEB"/>
                </a:solidFill>
              </a:rPr>
              <a:t>AES ECB en Pipeline</a:t>
            </a:r>
          </a:p>
          <a:p>
            <a:r>
              <a:rPr lang="es-ES_tradnl" dirty="0">
                <a:solidFill>
                  <a:srgbClr val="EBEBEB"/>
                </a:solidFill>
              </a:rPr>
              <a:t>https://</a:t>
            </a:r>
            <a:r>
              <a:rPr lang="es-ES_tradnl" dirty="0" err="1">
                <a:solidFill>
                  <a:srgbClr val="EBEBEB"/>
                </a:solidFill>
              </a:rPr>
              <a:t>github.com</a:t>
            </a:r>
            <a:r>
              <a:rPr lang="es-ES_tradnl" dirty="0">
                <a:solidFill>
                  <a:srgbClr val="EBEBEB"/>
                </a:solidFill>
              </a:rPr>
              <a:t>/AlexPs06/AVX-pipeline</a:t>
            </a:r>
          </a:p>
          <a:p>
            <a:r>
              <a:rPr lang="es-ES_tradnl" dirty="0">
                <a:solidFill>
                  <a:srgbClr val="EBEBEB"/>
                </a:solidFill>
              </a:rPr>
              <a:t>https://</a:t>
            </a:r>
            <a:r>
              <a:rPr lang="es-ES_tradnl" dirty="0" err="1">
                <a:solidFill>
                  <a:srgbClr val="EBEBEB"/>
                </a:solidFill>
              </a:rPr>
              <a:t>github.com</a:t>
            </a:r>
            <a:r>
              <a:rPr lang="es-ES_tradnl" dirty="0">
                <a:solidFill>
                  <a:srgbClr val="EBEBEB"/>
                </a:solidFill>
              </a:rPr>
              <a:t>/AlexPs06/Ejemplo-</a:t>
            </a:r>
            <a:r>
              <a:rPr lang="es-ES_tradnl" dirty="0" err="1">
                <a:solidFill>
                  <a:srgbClr val="EBEBEB"/>
                </a:solidFill>
              </a:rPr>
              <a:t>intrinsics</a:t>
            </a:r>
            <a:endParaRPr lang="es-ES_tradnl" dirty="0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686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1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2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33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4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5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36" name="Rectangle 21">
            <a:extLst>
              <a:ext uri="{FF2B5EF4-FFF2-40B4-BE49-F238E27FC236}">
                <a16:creationId xmlns:a16="http://schemas.microsoft.com/office/drawing/2014/main" id="{D67CA421-FA2B-47ED-A101-F8BBEBB29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C69ED3-5933-948E-91A4-2D31BCC7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279" y="1325880"/>
            <a:ext cx="3344020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EliMAC</a:t>
            </a:r>
          </a:p>
        </p:txBody>
      </p:sp>
      <p:sp useBgFill="1">
        <p:nvSpPr>
          <p:cNvPr id="37" name="Rectangle 23">
            <a:extLst>
              <a:ext uri="{FF2B5EF4-FFF2-40B4-BE49-F238E27FC236}">
                <a16:creationId xmlns:a16="http://schemas.microsoft.com/office/drawing/2014/main" id="{12425D82-CD5E-45A4-9542-70951E59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914" y="639905"/>
            <a:ext cx="6915664" cy="557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5">
            <a:extLst>
              <a:ext uri="{FF2B5EF4-FFF2-40B4-BE49-F238E27FC236}">
                <a16:creationId xmlns:a16="http://schemas.microsoft.com/office/drawing/2014/main" id="{221DB897-A621-4D5F-AC81-91199AC4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5" name="Marcador de contenido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BFFE29EA-D46F-2D05-263E-B7A9165EF2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955392" y="1674433"/>
            <a:ext cx="6275584" cy="351432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140415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396511-A091-F06A-3022-266DED0ED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B89E5C5-A037-45B3-9D37-3658914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CB93B0-521E-443D-9750-AFCFDDB3E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DA1DAC79-DDBA-4382-9D43-6E5F685B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5878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0880F10-995F-4F01-A83B-7ECDB7BE7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2D49266-1F08-40F2-B0E1-1D919DCB5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AACA73D-178F-4CFC-99E3-9F4FCBBD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0A5210-2F29-4D85-A400-9C79B13FC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611BBE-2B4A-4DA2-B8A9-CD877B876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091950-5655-45D2-858E-FE8CBE0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F6FF07-52C2-D06E-9BBD-9BAFC149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_tradnl" sz="4000">
                <a:solidFill>
                  <a:srgbClr val="FFFFFF"/>
                </a:solidFill>
              </a:rPr>
              <a:t>EliMAC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49AD929-EC7F-20D9-88E6-853118D013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4516757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0553CB-B90E-A8C5-F6D1-0768B76B0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0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118897-88C6-38A6-5F21-3D210C7A0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s-ES_tradnl" sz="3200">
                <a:solidFill>
                  <a:srgbClr val="F2F2F2"/>
                </a:solidFill>
              </a:rPr>
              <a:t>Propiedades de AES</a:t>
            </a:r>
          </a:p>
        </p:txBody>
      </p:sp>
      <p:sp>
        <p:nvSpPr>
          <p:cNvPr id="30" name="Freeform: Shape 22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26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595BA99-83D1-32C3-F798-378FF3125B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3899460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585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5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09DC24-4EBD-624E-6A80-B8E346522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es-ES_tradnl">
                <a:solidFill>
                  <a:srgbClr val="EBEBEB"/>
                </a:solidFill>
              </a:rPr>
              <a:t>Actividad en clase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s-ES_tradnl"/>
          </a:p>
        </p:txBody>
      </p:sp>
      <p:pic>
        <p:nvPicPr>
          <p:cNvPr id="5" name="Picture 4" descr="Manómetro en equipamiento de cerveza ">
            <a:extLst>
              <a:ext uri="{FF2B5EF4-FFF2-40B4-BE49-F238E27FC236}">
                <a16:creationId xmlns:a16="http://schemas.microsoft.com/office/drawing/2014/main" id="{4EBEF352-2BF8-34A4-90C7-89E7218B0F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43" r="13510" b="-1"/>
          <a:stretch>
            <a:fillRect/>
          </a:stretch>
        </p:blipFill>
        <p:spPr>
          <a:xfrm>
            <a:off x="6806050" y="647698"/>
            <a:ext cx="4025772" cy="5562601"/>
          </a:xfrm>
          <a:prstGeom prst="rect">
            <a:avLst/>
          </a:prstGeom>
          <a:effectLst/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81B490-D7C3-DBFD-2C10-D4A1DE5BE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r>
              <a:rPr lang="es-ES_tradnl" dirty="0" err="1">
                <a:solidFill>
                  <a:srgbClr val="EBEBEB"/>
                </a:solidFill>
              </a:rPr>
              <a:t>EliMAC</a:t>
            </a:r>
            <a:r>
              <a:rPr lang="es-ES_tradnl" dirty="0">
                <a:solidFill>
                  <a:srgbClr val="EBEBEB"/>
                </a:solidFill>
              </a:rPr>
              <a:t> usando pipeline y AVX con YMM o superior</a:t>
            </a:r>
          </a:p>
          <a:p>
            <a:endParaRPr lang="es-ES_tradnl" dirty="0">
              <a:solidFill>
                <a:srgbClr val="EBEBEB"/>
              </a:solidFill>
            </a:endParaRPr>
          </a:p>
          <a:p>
            <a:r>
              <a:rPr lang="es-ES_tradnl" dirty="0">
                <a:solidFill>
                  <a:srgbClr val="EBEBEB"/>
                </a:solidFill>
              </a:rPr>
              <a:t>https://</a:t>
            </a:r>
            <a:r>
              <a:rPr lang="es-ES_tradnl" dirty="0" err="1">
                <a:solidFill>
                  <a:srgbClr val="EBEBEB"/>
                </a:solidFill>
              </a:rPr>
              <a:t>github.com</a:t>
            </a:r>
            <a:r>
              <a:rPr lang="es-ES_tradnl" dirty="0">
                <a:solidFill>
                  <a:srgbClr val="EBEBEB"/>
                </a:solidFill>
              </a:rPr>
              <a:t>/AlexPs06/AVX-pipeline</a:t>
            </a:r>
          </a:p>
        </p:txBody>
      </p:sp>
    </p:spTree>
    <p:extLst>
      <p:ext uri="{BB962C8B-B14F-4D97-AF65-F5344CB8AC3E}">
        <p14:creationId xmlns:p14="http://schemas.microsoft.com/office/powerpoint/2010/main" val="26077432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114</TotalTime>
  <Words>655</Words>
  <Application>Microsoft Macintosh PowerPoint</Application>
  <PresentationFormat>Panorámica</PresentationFormat>
  <Paragraphs>85</Paragraphs>
  <Slides>38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3" baseType="lpstr">
      <vt:lpstr>Arial</vt:lpstr>
      <vt:lpstr>Century Gothic</vt:lpstr>
      <vt:lpstr>Wingdings 3</vt:lpstr>
      <vt:lpstr>Ion</vt:lpstr>
      <vt:lpstr>Hoja de cálculo</vt:lpstr>
      <vt:lpstr>Instrucciones vectoriales</vt:lpstr>
      <vt:lpstr>Operaciones secuenciales</vt:lpstr>
      <vt:lpstr>Operaciones secuenciales</vt:lpstr>
      <vt:lpstr>Paralelismo: Taxonomía de Flynn</vt:lpstr>
      <vt:lpstr>Paralelismo: Taxonomía de Flynn</vt:lpstr>
      <vt:lpstr>Paralelismo: Taxonomía de Flynn</vt:lpstr>
      <vt:lpstr>¿Por qué SIMD es tan importante?</vt:lpstr>
      <vt:lpstr>¿Qué es AVX?</vt:lpstr>
      <vt:lpstr>Operaciones secuenciales</vt:lpstr>
      <vt:lpstr>Presentación de PowerPoint</vt:lpstr>
      <vt:lpstr>Ejemplo de un XOR de 32 bits en XMM</vt:lpstr>
      <vt:lpstr>Presentación de PowerPoint</vt:lpstr>
      <vt:lpstr>Como leer una instrucción</vt:lpstr>
      <vt:lpstr>Tipo de registro</vt:lpstr>
      <vt:lpstr>Tamaño del bloque</vt:lpstr>
      <vt:lpstr>Presentación de PowerPoint</vt:lpstr>
      <vt:lpstr>Latencia y el Throughput</vt:lpstr>
      <vt:lpstr>Latencia y througput</vt:lpstr>
      <vt:lpstr>Presentación de PowerPoint</vt:lpstr>
      <vt:lpstr>Presentación de PowerPoint</vt:lpstr>
      <vt:lpstr>Pipeline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AES ECB en Pipeline</vt:lpstr>
      <vt:lpstr>Actividad en conjunto</vt:lpstr>
      <vt:lpstr>EliMAC</vt:lpstr>
      <vt:lpstr>EliMAC</vt:lpstr>
      <vt:lpstr>Propiedades de AES</vt:lpstr>
      <vt:lpstr>Actividad en clase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Alejandro Pérez Sarmiento</dc:creator>
  <cp:lastModifiedBy>Luis Alejandro Pérez Sarmiento</cp:lastModifiedBy>
  <cp:revision>3</cp:revision>
  <dcterms:created xsi:type="dcterms:W3CDTF">2026-03-18T05:33:53Z</dcterms:created>
  <dcterms:modified xsi:type="dcterms:W3CDTF">2026-03-18T07:28:06Z</dcterms:modified>
</cp:coreProperties>
</file>